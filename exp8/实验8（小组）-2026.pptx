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24" r:id="rId2"/>
    <p:sldId id="286" r:id="rId3"/>
    <p:sldId id="1742" r:id="rId4"/>
    <p:sldId id="366" r:id="rId5"/>
    <p:sldId id="1740" r:id="rId6"/>
    <p:sldId id="1739" r:id="rId7"/>
    <p:sldId id="1738" r:id="rId8"/>
    <p:sldId id="1743" r:id="rId9"/>
    <p:sldId id="1745" r:id="rId10"/>
    <p:sldId id="1744" r:id="rId11"/>
    <p:sldId id="1741" r:id="rId12"/>
  </p:sldIdLst>
  <p:sldSz cx="9144000" cy="6858000" type="screen4x3"/>
  <p:notesSz cx="6858000" cy="9144000"/>
  <p:defaultTextStyle>
    <a:defPPr>
      <a:defRPr lang="en-GB"/>
    </a:defPPr>
    <a:lvl1pPr algn="l" defTabSz="449263" rtl="0" eaLnBrk="0" fontAlgn="base" hangingPunct="0">
      <a:spcBef>
        <a:spcPct val="0"/>
      </a:spcBef>
      <a:spcAft>
        <a:spcPct val="0"/>
      </a:spcAft>
      <a:defRPr sz="2000" kern="1200">
        <a:solidFill>
          <a:schemeClr val="bg1"/>
        </a:solidFill>
        <a:latin typeface="华文中宋" panose="02010600040101010101" pitchFamily="2" charset="-122"/>
        <a:ea typeface="华文中宋" panose="02010600040101010101" pitchFamily="2" charset="-122"/>
        <a:cs typeface="+mn-cs"/>
      </a:defRPr>
    </a:lvl1pPr>
    <a:lvl2pPr marL="742950" indent="-285750" algn="l" defTabSz="449263" rtl="0" eaLnBrk="0" fontAlgn="base" hangingPunct="0">
      <a:spcBef>
        <a:spcPct val="0"/>
      </a:spcBef>
      <a:spcAft>
        <a:spcPct val="0"/>
      </a:spcAft>
      <a:defRPr sz="2000" kern="1200">
        <a:solidFill>
          <a:schemeClr val="bg1"/>
        </a:solidFill>
        <a:latin typeface="华文中宋" panose="02010600040101010101" pitchFamily="2" charset="-122"/>
        <a:ea typeface="华文中宋" panose="02010600040101010101" pitchFamily="2" charset="-122"/>
        <a:cs typeface="+mn-cs"/>
      </a:defRPr>
    </a:lvl2pPr>
    <a:lvl3pPr marL="1143000" indent="-228600" algn="l" defTabSz="449263" rtl="0" eaLnBrk="0" fontAlgn="base" hangingPunct="0">
      <a:spcBef>
        <a:spcPct val="0"/>
      </a:spcBef>
      <a:spcAft>
        <a:spcPct val="0"/>
      </a:spcAft>
      <a:defRPr sz="2000" kern="1200">
        <a:solidFill>
          <a:schemeClr val="bg1"/>
        </a:solidFill>
        <a:latin typeface="华文中宋" panose="02010600040101010101" pitchFamily="2" charset="-122"/>
        <a:ea typeface="华文中宋" panose="02010600040101010101" pitchFamily="2" charset="-122"/>
        <a:cs typeface="+mn-cs"/>
      </a:defRPr>
    </a:lvl3pPr>
    <a:lvl4pPr marL="1600200" indent="-228600" algn="l" defTabSz="449263" rtl="0" eaLnBrk="0" fontAlgn="base" hangingPunct="0">
      <a:spcBef>
        <a:spcPct val="0"/>
      </a:spcBef>
      <a:spcAft>
        <a:spcPct val="0"/>
      </a:spcAft>
      <a:defRPr sz="2000" kern="1200">
        <a:solidFill>
          <a:schemeClr val="bg1"/>
        </a:solidFill>
        <a:latin typeface="华文中宋" panose="02010600040101010101" pitchFamily="2" charset="-122"/>
        <a:ea typeface="华文中宋" panose="02010600040101010101" pitchFamily="2" charset="-122"/>
        <a:cs typeface="+mn-cs"/>
      </a:defRPr>
    </a:lvl4pPr>
    <a:lvl5pPr marL="2057400" indent="-228600" algn="l" defTabSz="449263" rtl="0" eaLnBrk="0" fontAlgn="base" hangingPunct="0">
      <a:spcBef>
        <a:spcPct val="0"/>
      </a:spcBef>
      <a:spcAft>
        <a:spcPct val="0"/>
      </a:spcAft>
      <a:defRPr sz="2000" kern="1200">
        <a:solidFill>
          <a:schemeClr val="bg1"/>
        </a:solidFill>
        <a:latin typeface="华文中宋" panose="02010600040101010101" pitchFamily="2" charset="-122"/>
        <a:ea typeface="华文中宋" panose="02010600040101010101" pitchFamily="2" charset="-122"/>
        <a:cs typeface="+mn-cs"/>
      </a:defRPr>
    </a:lvl5pPr>
    <a:lvl6pPr marL="2286000" algn="l" defTabSz="914400" rtl="0" eaLnBrk="1" latinLnBrk="0" hangingPunct="1">
      <a:defRPr sz="2000" kern="1200">
        <a:solidFill>
          <a:schemeClr val="bg1"/>
        </a:solidFill>
        <a:latin typeface="华文中宋" panose="02010600040101010101" pitchFamily="2" charset="-122"/>
        <a:ea typeface="华文中宋" panose="02010600040101010101" pitchFamily="2" charset="-122"/>
        <a:cs typeface="+mn-cs"/>
      </a:defRPr>
    </a:lvl6pPr>
    <a:lvl7pPr marL="2743200" algn="l" defTabSz="914400" rtl="0" eaLnBrk="1" latinLnBrk="0" hangingPunct="1">
      <a:defRPr sz="2000" kern="1200">
        <a:solidFill>
          <a:schemeClr val="bg1"/>
        </a:solidFill>
        <a:latin typeface="华文中宋" panose="02010600040101010101" pitchFamily="2" charset="-122"/>
        <a:ea typeface="华文中宋" panose="02010600040101010101" pitchFamily="2" charset="-122"/>
        <a:cs typeface="+mn-cs"/>
      </a:defRPr>
    </a:lvl7pPr>
    <a:lvl8pPr marL="3200400" algn="l" defTabSz="914400" rtl="0" eaLnBrk="1" latinLnBrk="0" hangingPunct="1">
      <a:defRPr sz="2000" kern="1200">
        <a:solidFill>
          <a:schemeClr val="bg1"/>
        </a:solidFill>
        <a:latin typeface="华文中宋" panose="02010600040101010101" pitchFamily="2" charset="-122"/>
        <a:ea typeface="华文中宋" panose="02010600040101010101" pitchFamily="2" charset="-122"/>
        <a:cs typeface="+mn-cs"/>
      </a:defRPr>
    </a:lvl8pPr>
    <a:lvl9pPr marL="3657600" algn="l" defTabSz="914400" rtl="0" eaLnBrk="1" latinLnBrk="0" hangingPunct="1">
      <a:defRPr sz="2000" kern="1200">
        <a:solidFill>
          <a:schemeClr val="bg1"/>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701" autoAdjust="0"/>
    <p:restoredTop sz="94067"/>
  </p:normalViewPr>
  <p:slideViewPr>
    <p:cSldViewPr>
      <p:cViewPr varScale="1">
        <p:scale>
          <a:sx n="339" d="100"/>
          <a:sy n="339" d="100"/>
        </p:scale>
        <p:origin x="2896" y="160"/>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jpe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AutoShape 1">
            <a:extLst>
              <a:ext uri="{FF2B5EF4-FFF2-40B4-BE49-F238E27FC236}">
                <a16:creationId xmlns:a16="http://schemas.microsoft.com/office/drawing/2014/main" id="{94B73B0A-1AE2-3C4D-B857-BFD417FA5B85}"/>
              </a:ext>
            </a:extLst>
          </p:cNvPr>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360" cap="sq">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10243" name="AutoShape 2">
            <a:extLst>
              <a:ext uri="{FF2B5EF4-FFF2-40B4-BE49-F238E27FC236}">
                <a16:creationId xmlns:a16="http://schemas.microsoft.com/office/drawing/2014/main" id="{3EA09015-6E7F-3F40-832E-A6CC7DB062CA}"/>
              </a:ext>
            </a:extLst>
          </p:cNvPr>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10244" name="Text Box 3">
            <a:extLst>
              <a:ext uri="{FF2B5EF4-FFF2-40B4-BE49-F238E27FC236}">
                <a16:creationId xmlns:a16="http://schemas.microsoft.com/office/drawing/2014/main" id="{2467033B-FE25-9F44-A1CA-B1FB1BAC16F8}"/>
              </a:ext>
            </a:extLst>
          </p:cNvPr>
          <p:cNvSpPr txBox="1">
            <a:spLocks noChangeArrowheads="1"/>
          </p:cNvSpPr>
          <p:nvPr/>
        </p:nvSpPr>
        <p:spPr bwMode="auto">
          <a:xfrm>
            <a:off x="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3076" name="Rectangle 4">
            <a:extLst>
              <a:ext uri="{FF2B5EF4-FFF2-40B4-BE49-F238E27FC236}">
                <a16:creationId xmlns:a16="http://schemas.microsoft.com/office/drawing/2014/main" id="{BD59E43A-2F4D-CF40-A182-BE543ECCDF9F}"/>
              </a:ext>
            </a:extLst>
          </p:cNvPr>
          <p:cNvSpPr>
            <a:spLocks noGrp="1" noChangeArrowheads="1"/>
          </p:cNvSpPr>
          <p:nvPr>
            <p:ph type="dt"/>
          </p:nvPr>
        </p:nvSpPr>
        <p:spPr bwMode="auto">
          <a:xfrm>
            <a:off x="3884613" y="0"/>
            <a:ext cx="2968625" cy="455613"/>
          </a:xfrm>
          <a:prstGeom prst="rect">
            <a:avLst/>
          </a:prstGeom>
          <a:noFill/>
          <a:ln>
            <a:noFill/>
          </a:ln>
          <a:effectLst/>
        </p:spPr>
        <p:txBody>
          <a:bodyPr vert="horz" wrap="square" lIns="90000" tIns="46800" rIns="90000" bIns="46800" numCol="1" anchor="t" anchorCtr="0" compatLnSpc="1">
            <a:prstTxWarp prst="textNoShape">
              <a:avLst/>
            </a:prstTxWarp>
          </a:bodyPr>
          <a:lstStyle>
            <a:lvl1pPr marL="215900" indent="-214313" algn="r" eaLnBrk="1">
              <a:buSzPct val="4500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ea typeface="Noto Sans CJK SC Regular"/>
                <a:cs typeface="Noto Sans CJK SC Regular"/>
              </a:defRPr>
            </a:lvl1pPr>
          </a:lstStyle>
          <a:p>
            <a:pPr>
              <a:defRPr/>
            </a:pPr>
            <a:endParaRPr lang="zh-CN" altLang="zh-CN"/>
          </a:p>
        </p:txBody>
      </p:sp>
      <p:sp>
        <p:nvSpPr>
          <p:cNvPr id="10246" name="Rectangle 5">
            <a:extLst>
              <a:ext uri="{FF2B5EF4-FFF2-40B4-BE49-F238E27FC236}">
                <a16:creationId xmlns:a16="http://schemas.microsoft.com/office/drawing/2014/main" id="{3E1B61BB-32EF-894C-B6AB-05B54A005A5C}"/>
              </a:ext>
            </a:extLst>
          </p:cNvPr>
          <p:cNvSpPr>
            <a:spLocks noGrp="1" noRot="1" noChangeAspect="1" noChangeArrowheads="1"/>
          </p:cNvSpPr>
          <p:nvPr>
            <p:ph type="sldImg"/>
          </p:nvPr>
        </p:nvSpPr>
        <p:spPr bwMode="auto">
          <a:xfrm>
            <a:off x="1371600" y="1143000"/>
            <a:ext cx="4111625" cy="3082925"/>
          </a:xfrm>
          <a:prstGeom prst="rect">
            <a:avLst/>
          </a:prstGeom>
          <a:noFill/>
          <a:ln w="1260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8" name="Rectangle 6">
            <a:extLst>
              <a:ext uri="{FF2B5EF4-FFF2-40B4-BE49-F238E27FC236}">
                <a16:creationId xmlns:a16="http://schemas.microsoft.com/office/drawing/2014/main" id="{231924ED-B770-AB48-A816-3C5F603D16FC}"/>
              </a:ext>
            </a:extLst>
          </p:cNvPr>
          <p:cNvSpPr>
            <a:spLocks noGrp="1" noChangeArrowheads="1"/>
          </p:cNvSpPr>
          <p:nvPr>
            <p:ph type="body"/>
          </p:nvPr>
        </p:nvSpPr>
        <p:spPr bwMode="auto">
          <a:xfrm>
            <a:off x="685800" y="4400550"/>
            <a:ext cx="5483225" cy="3597275"/>
          </a:xfrm>
          <a:prstGeom prst="rect">
            <a:avLst/>
          </a:prstGeom>
          <a:noFill/>
          <a:ln>
            <a:noFill/>
          </a:ln>
          <a:effectLst/>
        </p:spPr>
        <p:txBody>
          <a:bodyPr vert="horz" wrap="square" lIns="90000" tIns="46800" rIns="90000" bIns="46800" numCol="1" anchor="t" anchorCtr="0" compatLnSpc="1">
            <a:prstTxWarp prst="textNoShape">
              <a:avLst/>
            </a:prstTxWarp>
          </a:bodyPr>
          <a:lstStyle/>
          <a:p>
            <a:pPr lvl="0"/>
            <a:endParaRPr lang="zh-CN" altLang="zh-CN" noProof="0"/>
          </a:p>
        </p:txBody>
      </p:sp>
      <p:sp>
        <p:nvSpPr>
          <p:cNvPr id="10248" name="Text Box 7">
            <a:extLst>
              <a:ext uri="{FF2B5EF4-FFF2-40B4-BE49-F238E27FC236}">
                <a16:creationId xmlns:a16="http://schemas.microsoft.com/office/drawing/2014/main" id="{149070EB-9AA3-A84C-8264-ADD0BE3E76A4}"/>
              </a:ext>
            </a:extLst>
          </p:cNvPr>
          <p:cNvSpPr txBox="1">
            <a:spLocks noChangeArrowheads="1"/>
          </p:cNvSpPr>
          <p:nvPr/>
        </p:nvSpPr>
        <p:spPr bwMode="auto">
          <a:xfrm>
            <a:off x="0"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3080" name="Rectangle 8">
            <a:extLst>
              <a:ext uri="{FF2B5EF4-FFF2-40B4-BE49-F238E27FC236}">
                <a16:creationId xmlns:a16="http://schemas.microsoft.com/office/drawing/2014/main" id="{7CFDCEFA-5B45-7F42-9BBC-21E200A04E36}"/>
              </a:ext>
            </a:extLst>
          </p:cNvPr>
          <p:cNvSpPr>
            <a:spLocks noGrp="1" noChangeArrowheads="1"/>
          </p:cNvSpPr>
          <p:nvPr>
            <p:ph type="sldNum"/>
          </p:nvPr>
        </p:nvSpPr>
        <p:spPr bwMode="auto">
          <a:xfrm>
            <a:off x="3884613" y="8685213"/>
            <a:ext cx="2968625" cy="455612"/>
          </a:xfrm>
          <a:prstGeom prst="rect">
            <a:avLst/>
          </a:prstGeom>
          <a:noFill/>
          <a:ln>
            <a:noFill/>
          </a:ln>
          <a:effectLst/>
        </p:spPr>
        <p:txBody>
          <a:bodyPr vert="horz" wrap="square" lIns="90000" tIns="46800" rIns="90000" bIns="46800" numCol="1" anchor="b" anchorCtr="0" compatLnSpc="1">
            <a:prstTxWarp prst="textNoShape">
              <a:avLst/>
            </a:prstTxWarp>
          </a:bodyPr>
          <a:lstStyle>
            <a:lvl1pPr marL="215900" indent="-214313" algn="r" eaLnBrk="1">
              <a:buSzPct val="45000"/>
              <a:tabLst>
                <a:tab pos="449263" algn="l"/>
                <a:tab pos="898525" algn="l"/>
                <a:tab pos="1347788" algn="l"/>
                <a:tab pos="1797050" algn="l"/>
                <a:tab pos="2246313" algn="l"/>
                <a:tab pos="2695575" algn="l"/>
              </a:tabLst>
              <a:defRPr sz="1200" smtClean="0">
                <a:solidFill>
                  <a:srgbClr val="000000"/>
                </a:solidFill>
                <a:latin typeface="Times New Roman" panose="02020603050405020304" pitchFamily="18" charset="0"/>
                <a:ea typeface="Noto Sans CJK SC Regular"/>
                <a:cs typeface="Noto Sans CJK SC Regular"/>
              </a:defRPr>
            </a:lvl1pPr>
          </a:lstStyle>
          <a:p>
            <a:pPr>
              <a:defRPr/>
            </a:pPr>
            <a:fld id="{7E76C83B-739A-7A48-82DA-E2FD22E3DC6E}" type="slidenum">
              <a:rPr lang="zh-CN" altLang="zh-CN"/>
              <a:pPr>
                <a:defRPr/>
              </a:pPr>
              <a:t>‹#›</a:t>
            </a:fld>
            <a:endParaRPr lang="zh-CN" altLang="zh-CN"/>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38" name="Rectangle 8">
            <a:extLst>
              <a:ext uri="{FF2B5EF4-FFF2-40B4-BE49-F238E27FC236}">
                <a16:creationId xmlns:a16="http://schemas.microsoft.com/office/drawing/2014/main" id="{7EFC5DCA-E8B0-E040-AA3B-51CBA5FCACA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214313">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9pPr>
          </a:lstStyle>
          <a:p>
            <a:pPr>
              <a:spcBef>
                <a:spcPct val="0"/>
              </a:spcBef>
              <a:buClrTx/>
              <a:buSzPct val="45000"/>
              <a:buFontTx/>
              <a:buNone/>
            </a:pPr>
            <a:fld id="{025CE4DE-BE81-D543-AD6F-1D954780B2F5}" type="slidenum">
              <a:rPr lang="zh-CN" altLang="zh-CN">
                <a:ea typeface="华文中宋" panose="02010600040101010101" pitchFamily="2" charset="-122"/>
              </a:rPr>
              <a:pPr>
                <a:spcBef>
                  <a:spcPct val="0"/>
                </a:spcBef>
                <a:buClrTx/>
                <a:buSzPct val="45000"/>
                <a:buFontTx/>
                <a:buNone/>
              </a:pPr>
              <a:t>2</a:t>
            </a:fld>
            <a:endParaRPr lang="zh-CN" altLang="zh-CN">
              <a:ea typeface="华文中宋" panose="02010600040101010101" pitchFamily="2" charset="-122"/>
            </a:endParaRPr>
          </a:p>
        </p:txBody>
      </p:sp>
      <p:sp>
        <p:nvSpPr>
          <p:cNvPr id="116739" name="Rectangle 1">
            <a:extLst>
              <a:ext uri="{FF2B5EF4-FFF2-40B4-BE49-F238E27FC236}">
                <a16:creationId xmlns:a16="http://schemas.microsoft.com/office/drawing/2014/main" id="{252C2819-B847-F246-B1D1-E6462495FED0}"/>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6740" name="Text Box 2">
            <a:extLst>
              <a:ext uri="{FF2B5EF4-FFF2-40B4-BE49-F238E27FC236}">
                <a16:creationId xmlns:a16="http://schemas.microsoft.com/office/drawing/2014/main" id="{A643BA47-328A-2140-83FE-AF6944BADF14}"/>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38" name="Rectangle 8">
            <a:extLst>
              <a:ext uri="{FF2B5EF4-FFF2-40B4-BE49-F238E27FC236}">
                <a16:creationId xmlns:a16="http://schemas.microsoft.com/office/drawing/2014/main" id="{7EFC5DCA-E8B0-E040-AA3B-51CBA5FCACA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214313">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9pPr>
          </a:lstStyle>
          <a:p>
            <a:pPr>
              <a:spcBef>
                <a:spcPct val="0"/>
              </a:spcBef>
              <a:buClrTx/>
              <a:buSzPct val="45000"/>
              <a:buFontTx/>
              <a:buNone/>
            </a:pPr>
            <a:fld id="{025CE4DE-BE81-D543-AD6F-1D954780B2F5}" type="slidenum">
              <a:rPr lang="zh-CN" altLang="zh-CN">
                <a:ea typeface="华文中宋" panose="02010600040101010101" pitchFamily="2" charset="-122"/>
              </a:rPr>
              <a:pPr>
                <a:spcBef>
                  <a:spcPct val="0"/>
                </a:spcBef>
                <a:buClrTx/>
                <a:buSzPct val="45000"/>
                <a:buFontTx/>
                <a:buNone/>
              </a:pPr>
              <a:t>3</a:t>
            </a:fld>
            <a:endParaRPr lang="zh-CN" altLang="zh-CN">
              <a:ea typeface="华文中宋" panose="02010600040101010101" pitchFamily="2" charset="-122"/>
            </a:endParaRPr>
          </a:p>
        </p:txBody>
      </p:sp>
      <p:sp>
        <p:nvSpPr>
          <p:cNvPr id="116739" name="Rectangle 1">
            <a:extLst>
              <a:ext uri="{FF2B5EF4-FFF2-40B4-BE49-F238E27FC236}">
                <a16:creationId xmlns:a16="http://schemas.microsoft.com/office/drawing/2014/main" id="{252C2819-B847-F246-B1D1-E6462495FED0}"/>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6740" name="Text Box 2">
            <a:extLst>
              <a:ext uri="{FF2B5EF4-FFF2-40B4-BE49-F238E27FC236}">
                <a16:creationId xmlns:a16="http://schemas.microsoft.com/office/drawing/2014/main" id="{A643BA47-328A-2140-83FE-AF6944BADF14}"/>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extLst>
      <p:ext uri="{BB962C8B-B14F-4D97-AF65-F5344CB8AC3E}">
        <p14:creationId xmlns:p14="http://schemas.microsoft.com/office/powerpoint/2010/main" val="3199405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38" name="Rectangle 8">
            <a:extLst>
              <a:ext uri="{FF2B5EF4-FFF2-40B4-BE49-F238E27FC236}">
                <a16:creationId xmlns:a16="http://schemas.microsoft.com/office/drawing/2014/main" id="{7EFC5DCA-E8B0-E040-AA3B-51CBA5FCACA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214313">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9pPr>
          </a:lstStyle>
          <a:p>
            <a:pPr>
              <a:spcBef>
                <a:spcPct val="0"/>
              </a:spcBef>
              <a:buClrTx/>
              <a:buSzPct val="45000"/>
              <a:buFontTx/>
              <a:buNone/>
            </a:pPr>
            <a:fld id="{025CE4DE-BE81-D543-AD6F-1D954780B2F5}" type="slidenum">
              <a:rPr lang="zh-CN" altLang="zh-CN">
                <a:ea typeface="华文中宋" panose="02010600040101010101" pitchFamily="2" charset="-122"/>
              </a:rPr>
              <a:pPr>
                <a:spcBef>
                  <a:spcPct val="0"/>
                </a:spcBef>
                <a:buClrTx/>
                <a:buSzPct val="45000"/>
                <a:buFontTx/>
                <a:buNone/>
              </a:pPr>
              <a:t>6</a:t>
            </a:fld>
            <a:endParaRPr lang="zh-CN" altLang="zh-CN">
              <a:ea typeface="华文中宋" panose="02010600040101010101" pitchFamily="2" charset="-122"/>
            </a:endParaRPr>
          </a:p>
        </p:txBody>
      </p:sp>
      <p:sp>
        <p:nvSpPr>
          <p:cNvPr id="116739" name="Rectangle 1">
            <a:extLst>
              <a:ext uri="{FF2B5EF4-FFF2-40B4-BE49-F238E27FC236}">
                <a16:creationId xmlns:a16="http://schemas.microsoft.com/office/drawing/2014/main" id="{252C2819-B847-F246-B1D1-E6462495FED0}"/>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6740" name="Text Box 2">
            <a:extLst>
              <a:ext uri="{FF2B5EF4-FFF2-40B4-BE49-F238E27FC236}">
                <a16:creationId xmlns:a16="http://schemas.microsoft.com/office/drawing/2014/main" id="{A643BA47-328A-2140-83FE-AF6944BADF14}"/>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extLst>
      <p:ext uri="{BB962C8B-B14F-4D97-AF65-F5344CB8AC3E}">
        <p14:creationId xmlns:p14="http://schemas.microsoft.com/office/powerpoint/2010/main" val="1049091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860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黑体" panose="02010609060101010101" pitchFamily="2" charset="-122"/>
              </a:defRPr>
            </a:lvl1pPr>
            <a:lvl2pPr marL="742950" indent="-285750">
              <a:defRPr b="1">
                <a:solidFill>
                  <a:schemeClr val="tx1"/>
                </a:solidFill>
                <a:latin typeface="Arial" panose="020B0604020202020204" pitchFamily="34" charset="0"/>
                <a:ea typeface="黑体" panose="02010609060101010101" pitchFamily="2" charset="-122"/>
              </a:defRPr>
            </a:lvl2pPr>
            <a:lvl3pPr marL="1143000" indent="-228600">
              <a:defRPr b="1">
                <a:solidFill>
                  <a:schemeClr val="tx1"/>
                </a:solidFill>
                <a:latin typeface="Arial" panose="020B0604020202020204" pitchFamily="34" charset="0"/>
                <a:ea typeface="黑体" panose="02010609060101010101" pitchFamily="2" charset="-122"/>
              </a:defRPr>
            </a:lvl3pPr>
            <a:lvl4pPr marL="1600200" indent="-228600">
              <a:defRPr b="1">
                <a:solidFill>
                  <a:schemeClr val="tx1"/>
                </a:solidFill>
                <a:latin typeface="Arial" panose="020B0604020202020204" pitchFamily="34" charset="0"/>
                <a:ea typeface="黑体" panose="02010609060101010101" pitchFamily="2" charset="-122"/>
              </a:defRPr>
            </a:lvl4pPr>
            <a:lvl5pPr marL="2057400" indent="-228600">
              <a:defRPr b="1">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9pPr>
          </a:lstStyle>
          <a:p>
            <a:fld id="{2343B48A-9FC3-4890-BC0B-D153FF559988}" type="slidenum">
              <a:rPr lang="en-US" altLang="zh-CN" b="0" smtClean="0">
                <a:latin typeface="Times New Roman" panose="02020603050405020304" pitchFamily="18" charset="0"/>
                <a:ea typeface="宋体" panose="02010600030101010101" pitchFamily="2" charset="-122"/>
              </a:rPr>
              <a:t>7</a:t>
            </a:fld>
            <a:endParaRPr lang="en-US" altLang="zh-CN" b="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668806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860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黑体" panose="02010609060101010101" pitchFamily="2" charset="-122"/>
              </a:defRPr>
            </a:lvl1pPr>
            <a:lvl2pPr marL="742950" indent="-285750">
              <a:defRPr b="1">
                <a:solidFill>
                  <a:schemeClr val="tx1"/>
                </a:solidFill>
                <a:latin typeface="Arial" panose="020B0604020202020204" pitchFamily="34" charset="0"/>
                <a:ea typeface="黑体" panose="02010609060101010101" pitchFamily="2" charset="-122"/>
              </a:defRPr>
            </a:lvl2pPr>
            <a:lvl3pPr marL="1143000" indent="-228600">
              <a:defRPr b="1">
                <a:solidFill>
                  <a:schemeClr val="tx1"/>
                </a:solidFill>
                <a:latin typeface="Arial" panose="020B0604020202020204" pitchFamily="34" charset="0"/>
                <a:ea typeface="黑体" panose="02010609060101010101" pitchFamily="2" charset="-122"/>
              </a:defRPr>
            </a:lvl3pPr>
            <a:lvl4pPr marL="1600200" indent="-228600">
              <a:defRPr b="1">
                <a:solidFill>
                  <a:schemeClr val="tx1"/>
                </a:solidFill>
                <a:latin typeface="Arial" panose="020B0604020202020204" pitchFamily="34" charset="0"/>
                <a:ea typeface="黑体" panose="02010609060101010101" pitchFamily="2" charset="-122"/>
              </a:defRPr>
            </a:lvl4pPr>
            <a:lvl5pPr marL="2057400" indent="-228600">
              <a:defRPr b="1">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9pPr>
          </a:lstStyle>
          <a:p>
            <a:fld id="{2343B48A-9FC3-4890-BC0B-D153FF559988}" type="slidenum">
              <a:rPr lang="en-US" altLang="zh-CN" b="0" smtClean="0">
                <a:latin typeface="Times New Roman" panose="02020603050405020304" pitchFamily="18" charset="0"/>
                <a:ea typeface="宋体" panose="02010600030101010101" pitchFamily="2" charset="-122"/>
              </a:rPr>
              <a:t>8</a:t>
            </a:fld>
            <a:endParaRPr lang="en-US" altLang="zh-CN" b="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112972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860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黑体" panose="02010609060101010101" pitchFamily="2" charset="-122"/>
              </a:defRPr>
            </a:lvl1pPr>
            <a:lvl2pPr marL="742950" indent="-285750">
              <a:defRPr b="1">
                <a:solidFill>
                  <a:schemeClr val="tx1"/>
                </a:solidFill>
                <a:latin typeface="Arial" panose="020B0604020202020204" pitchFamily="34" charset="0"/>
                <a:ea typeface="黑体" panose="02010609060101010101" pitchFamily="2" charset="-122"/>
              </a:defRPr>
            </a:lvl2pPr>
            <a:lvl3pPr marL="1143000" indent="-228600">
              <a:defRPr b="1">
                <a:solidFill>
                  <a:schemeClr val="tx1"/>
                </a:solidFill>
                <a:latin typeface="Arial" panose="020B0604020202020204" pitchFamily="34" charset="0"/>
                <a:ea typeface="黑体" panose="02010609060101010101" pitchFamily="2" charset="-122"/>
              </a:defRPr>
            </a:lvl3pPr>
            <a:lvl4pPr marL="1600200" indent="-228600">
              <a:defRPr b="1">
                <a:solidFill>
                  <a:schemeClr val="tx1"/>
                </a:solidFill>
                <a:latin typeface="Arial" panose="020B0604020202020204" pitchFamily="34" charset="0"/>
                <a:ea typeface="黑体" panose="02010609060101010101" pitchFamily="2" charset="-122"/>
              </a:defRPr>
            </a:lvl4pPr>
            <a:lvl5pPr marL="2057400" indent="-228600">
              <a:defRPr b="1">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9pPr>
          </a:lstStyle>
          <a:p>
            <a:fld id="{2343B48A-9FC3-4890-BC0B-D153FF559988}" type="slidenum">
              <a:rPr lang="en-US" altLang="zh-CN" b="0" smtClean="0">
                <a:latin typeface="Times New Roman" panose="02020603050405020304" pitchFamily="18" charset="0"/>
                <a:ea typeface="宋体" panose="02010600030101010101" pitchFamily="2" charset="-122"/>
              </a:rPr>
              <a:t>9</a:t>
            </a:fld>
            <a:endParaRPr lang="en-US" altLang="zh-CN" b="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925949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860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黑体" panose="02010609060101010101" pitchFamily="2" charset="-122"/>
              </a:defRPr>
            </a:lvl1pPr>
            <a:lvl2pPr marL="742950" indent="-285750">
              <a:defRPr b="1">
                <a:solidFill>
                  <a:schemeClr val="tx1"/>
                </a:solidFill>
                <a:latin typeface="Arial" panose="020B0604020202020204" pitchFamily="34" charset="0"/>
                <a:ea typeface="黑体" panose="02010609060101010101" pitchFamily="2" charset="-122"/>
              </a:defRPr>
            </a:lvl2pPr>
            <a:lvl3pPr marL="1143000" indent="-228600">
              <a:defRPr b="1">
                <a:solidFill>
                  <a:schemeClr val="tx1"/>
                </a:solidFill>
                <a:latin typeface="Arial" panose="020B0604020202020204" pitchFamily="34" charset="0"/>
                <a:ea typeface="黑体" panose="02010609060101010101" pitchFamily="2" charset="-122"/>
              </a:defRPr>
            </a:lvl3pPr>
            <a:lvl4pPr marL="1600200" indent="-228600">
              <a:defRPr b="1">
                <a:solidFill>
                  <a:schemeClr val="tx1"/>
                </a:solidFill>
                <a:latin typeface="Arial" panose="020B0604020202020204" pitchFamily="34" charset="0"/>
                <a:ea typeface="黑体" panose="02010609060101010101" pitchFamily="2" charset="-122"/>
              </a:defRPr>
            </a:lvl4pPr>
            <a:lvl5pPr marL="2057400" indent="-228600">
              <a:defRPr b="1">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黑体" panose="02010609060101010101" pitchFamily="2" charset="-122"/>
              </a:defRPr>
            </a:lvl9pPr>
          </a:lstStyle>
          <a:p>
            <a:fld id="{2343B48A-9FC3-4890-BC0B-D153FF559988}" type="slidenum">
              <a:rPr lang="en-US" altLang="zh-CN" b="0" smtClean="0">
                <a:latin typeface="Times New Roman" panose="02020603050405020304" pitchFamily="18" charset="0"/>
                <a:ea typeface="宋体" panose="02010600030101010101" pitchFamily="2" charset="-122"/>
              </a:rPr>
              <a:t>10</a:t>
            </a:fld>
            <a:endParaRPr lang="en-US" altLang="zh-CN" b="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157245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38" name="Rectangle 8">
            <a:extLst>
              <a:ext uri="{FF2B5EF4-FFF2-40B4-BE49-F238E27FC236}">
                <a16:creationId xmlns:a16="http://schemas.microsoft.com/office/drawing/2014/main" id="{7EFC5DCA-E8B0-E040-AA3B-51CBA5FCACA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214313">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1200">
                <a:solidFill>
                  <a:srgbClr val="000000"/>
                </a:solidFill>
                <a:latin typeface="Times New Roman" panose="02020603050405020304" pitchFamily="18" charset="0"/>
              </a:defRPr>
            </a:lvl9pPr>
          </a:lstStyle>
          <a:p>
            <a:pPr>
              <a:spcBef>
                <a:spcPct val="0"/>
              </a:spcBef>
              <a:buClrTx/>
              <a:buSzPct val="45000"/>
              <a:buFontTx/>
              <a:buNone/>
            </a:pPr>
            <a:fld id="{025CE4DE-BE81-D543-AD6F-1D954780B2F5}" type="slidenum">
              <a:rPr lang="zh-CN" altLang="zh-CN">
                <a:ea typeface="华文中宋" panose="02010600040101010101" pitchFamily="2" charset="-122"/>
              </a:rPr>
              <a:pPr>
                <a:spcBef>
                  <a:spcPct val="0"/>
                </a:spcBef>
                <a:buClrTx/>
                <a:buSzPct val="45000"/>
                <a:buFontTx/>
                <a:buNone/>
              </a:pPr>
              <a:t>11</a:t>
            </a:fld>
            <a:endParaRPr lang="zh-CN" altLang="zh-CN">
              <a:ea typeface="华文中宋" panose="02010600040101010101" pitchFamily="2" charset="-122"/>
            </a:endParaRPr>
          </a:p>
        </p:txBody>
      </p:sp>
      <p:sp>
        <p:nvSpPr>
          <p:cNvPr id="116739" name="Rectangle 1">
            <a:extLst>
              <a:ext uri="{FF2B5EF4-FFF2-40B4-BE49-F238E27FC236}">
                <a16:creationId xmlns:a16="http://schemas.microsoft.com/office/drawing/2014/main" id="{252C2819-B847-F246-B1D1-E6462495FED0}"/>
              </a:ext>
            </a:extLst>
          </p:cNvPr>
          <p:cNvSpPr>
            <a:spLocks noGrp="1" noRot="1" noChangeAspect="1" noChangeArrowheads="1" noTextEdit="1"/>
          </p:cNvSpPr>
          <p:nvPr>
            <p:ph type="sldImg"/>
          </p:nvPr>
        </p:nvSpPr>
        <p:spPr>
          <a:xfrm>
            <a:off x="1371600" y="1143000"/>
            <a:ext cx="4114800" cy="30861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6740" name="Text Box 2">
            <a:extLst>
              <a:ext uri="{FF2B5EF4-FFF2-40B4-BE49-F238E27FC236}">
                <a16:creationId xmlns:a16="http://schemas.microsoft.com/office/drawing/2014/main" id="{A643BA47-328A-2140-83FE-AF6944BADF14}"/>
              </a:ext>
            </a:extLst>
          </p:cNvPr>
          <p:cNvSpPr txBox="1">
            <a:spLocks noChangeArrowheads="1"/>
          </p:cNvSpPr>
          <p:nvPr/>
        </p:nvSpPr>
        <p:spPr bwMode="auto">
          <a:xfrm>
            <a:off x="685800" y="4400550"/>
            <a:ext cx="5486400" cy="360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Tree>
    <p:extLst>
      <p:ext uri="{BB962C8B-B14F-4D97-AF65-F5344CB8AC3E}">
        <p14:creationId xmlns:p14="http://schemas.microsoft.com/office/powerpoint/2010/main" val="3944416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b="1">
                <a:solidFill>
                  <a:srgbClr val="C00000"/>
                </a:solidFill>
              </a:defRPr>
            </a:lvl1pPr>
          </a:lstStyle>
          <a:p>
            <a:r>
              <a:rPr lang="zh-CN" altLang="en-US" dirty="0"/>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Rectangle 5">
            <a:extLst>
              <a:ext uri="{FF2B5EF4-FFF2-40B4-BE49-F238E27FC236}">
                <a16:creationId xmlns:a16="http://schemas.microsoft.com/office/drawing/2014/main" id="{3C26DF2E-6FDD-7647-B37E-B5B5532858FF}"/>
              </a:ext>
            </a:extLst>
          </p:cNvPr>
          <p:cNvSpPr>
            <a:spLocks noGrp="1" noChangeArrowheads="1"/>
          </p:cNvSpPr>
          <p:nvPr>
            <p:ph type="sldNum" idx="10"/>
          </p:nvPr>
        </p:nvSpPr>
        <p:spPr>
          <a:ln/>
        </p:spPr>
        <p:txBody>
          <a:bodyPr/>
          <a:lstStyle>
            <a:lvl1pPr>
              <a:defRPr/>
            </a:lvl1pPr>
          </a:lstStyle>
          <a:p>
            <a:pPr>
              <a:defRPr/>
            </a:pPr>
            <a:r>
              <a:rPr lang="en-US" altLang="zh-CN"/>
              <a:t>1</a:t>
            </a:r>
            <a:fld id="{FACBFCD2-3776-F344-9EDD-CBF536417741}" type="slidenum">
              <a:rPr lang="en-US" altLang="zh-CN" smtClean="0"/>
              <a:pPr>
                <a:defRPr/>
              </a:pPr>
              <a:t>‹#›</a:t>
            </a:fld>
            <a:endParaRPr lang="en-US" altLang="zh-CN"/>
          </a:p>
        </p:txBody>
      </p:sp>
    </p:spTree>
    <p:extLst>
      <p:ext uri="{BB962C8B-B14F-4D97-AF65-F5344CB8AC3E}">
        <p14:creationId xmlns:p14="http://schemas.microsoft.com/office/powerpoint/2010/main" val="2892584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F3886BA6-C1EA-A34B-9D9A-6777BC51F119}"/>
              </a:ext>
            </a:extLst>
          </p:cNvPr>
          <p:cNvSpPr>
            <a:spLocks noChangeArrowheads="1"/>
          </p:cNvSpPr>
          <p:nvPr userDrawn="1"/>
        </p:nvSpPr>
        <p:spPr bwMode="auto">
          <a:xfrm>
            <a:off x="395288" y="1041400"/>
            <a:ext cx="8226425" cy="31750"/>
          </a:xfrm>
          <a:prstGeom prst="rect">
            <a:avLst/>
          </a:prstGeom>
          <a:gradFill rotWithShape="0">
            <a:gsLst>
              <a:gs pos="0">
                <a:srgbClr val="FFFFFF"/>
              </a:gs>
              <a:gs pos="100000">
                <a:srgbClr val="808080"/>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2" name="标题 1"/>
          <p:cNvSpPr>
            <a:spLocks noGrp="1"/>
          </p:cNvSpPr>
          <p:nvPr>
            <p:ph type="title"/>
          </p:nvPr>
        </p:nvSpPr>
        <p:spPr>
          <a:xfrm>
            <a:off x="468313" y="333375"/>
            <a:ext cx="8226425" cy="655861"/>
          </a:xfrm>
        </p:spPr>
        <p:txBody>
          <a:bodyPr/>
          <a:lstStyle>
            <a:lvl1pPr algn="l">
              <a:defRPr sz="3600" baseline="0">
                <a:solidFill>
                  <a:srgbClr val="0070C0"/>
                </a:solidFill>
                <a:latin typeface="Times New Roman" panose="02020603050405020304" pitchFamily="18" charset="0"/>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p:nvPr>
        </p:nvSpPr>
        <p:spPr>
          <a:xfrm>
            <a:off x="457200" y="1124744"/>
            <a:ext cx="8226425" cy="5256584"/>
          </a:xfrm>
        </p:spPr>
        <p:txBody>
          <a:bodyPr/>
          <a:lstStyle>
            <a:lvl1pPr marL="457200" indent="-457200">
              <a:buClr>
                <a:srgbClr val="C00000"/>
              </a:buClr>
              <a:buSzPct val="110000"/>
              <a:buFont typeface="Arial" panose="020B0604020202020204" pitchFamily="34" charset="0"/>
              <a:buChar char="•"/>
              <a:defRPr sz="2800" baseline="0">
                <a:solidFill>
                  <a:schemeClr val="tx1"/>
                </a:solidFill>
                <a:latin typeface="Times New Roman" panose="02020603050405020304" pitchFamily="18" charset="0"/>
                <a:ea typeface="楷体" panose="02010609060101010101" pitchFamily="49" charset="-122"/>
              </a:defRPr>
            </a:lvl1pPr>
            <a:lvl2pPr marL="914400" indent="-457200">
              <a:buClr>
                <a:srgbClr val="C00000"/>
              </a:buClr>
              <a:buSzPct val="80000"/>
              <a:buFont typeface="Arial" panose="020B0604020202020204" pitchFamily="34" charset="0"/>
              <a:buChar char="•"/>
              <a:defRPr sz="2800" baseline="0">
                <a:solidFill>
                  <a:schemeClr val="tx1"/>
                </a:solidFill>
                <a:latin typeface="Times New Roman" panose="02020603050405020304" pitchFamily="18" charset="0"/>
                <a:ea typeface="楷体" panose="02010609060101010101" pitchFamily="49" charset="-122"/>
              </a:defRPr>
            </a:lvl2pPr>
            <a:lvl3pPr marL="1257300" indent="-342900">
              <a:buClr>
                <a:srgbClr val="C00000"/>
              </a:buClr>
              <a:buSzPct val="48000"/>
              <a:buFont typeface="Arial" panose="020B0604020202020204" pitchFamily="34" charset="0"/>
              <a:buChar char="•"/>
              <a:defRPr sz="2800" baseline="0">
                <a:solidFill>
                  <a:schemeClr val="tx1"/>
                </a:solidFill>
                <a:latin typeface="Times New Roman" panose="02020603050405020304" pitchFamily="18" charset="0"/>
                <a:ea typeface="楷体" panose="02010609060101010101" pitchFamily="49" charset="-122"/>
              </a:defRPr>
            </a:lvl3pPr>
            <a:lvl4pPr marL="1714500" indent="-342900">
              <a:buClr>
                <a:srgbClr val="C00000"/>
              </a:buClr>
              <a:buSzPct val="48000"/>
              <a:buFont typeface="Arial" panose="020B0604020202020204" pitchFamily="34" charset="0"/>
              <a:buChar char="•"/>
              <a:defRPr sz="2800" baseline="0">
                <a:solidFill>
                  <a:schemeClr val="tx1"/>
                </a:solidFill>
                <a:latin typeface="Times New Roman" panose="02020603050405020304" pitchFamily="18" charset="0"/>
                <a:ea typeface="楷体" panose="02010609060101010101" pitchFamily="49" charset="-122"/>
              </a:defRPr>
            </a:lvl4pPr>
            <a:lvl5pPr marL="2171700" indent="-342900">
              <a:buClr>
                <a:srgbClr val="C00000"/>
              </a:buClr>
              <a:buSzPct val="48000"/>
              <a:buFont typeface="Arial" panose="020B0604020202020204" pitchFamily="34" charset="0"/>
              <a:buChar char="•"/>
              <a:defRPr sz="2800" baseline="0">
                <a:solidFill>
                  <a:schemeClr val="tx1"/>
                </a:solidFill>
                <a:latin typeface="Times New Roman" panose="02020603050405020304" pitchFamily="18" charset="0"/>
                <a:ea typeface="楷体" panose="02010609060101010101" pitchFamily="49"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5">
            <a:extLst>
              <a:ext uri="{FF2B5EF4-FFF2-40B4-BE49-F238E27FC236}">
                <a16:creationId xmlns:a16="http://schemas.microsoft.com/office/drawing/2014/main" id="{706F1FF1-D464-AB4E-A43D-875637F72EC5}"/>
              </a:ext>
            </a:extLst>
          </p:cNvPr>
          <p:cNvSpPr>
            <a:spLocks noGrp="1" noChangeArrowheads="1"/>
          </p:cNvSpPr>
          <p:nvPr>
            <p:ph type="sldNum" idx="10"/>
          </p:nvPr>
        </p:nvSpPr>
        <p:spPr>
          <a:xfrm>
            <a:off x="7956550" y="6432550"/>
            <a:ext cx="738188" cy="288925"/>
          </a:xfrm>
        </p:spPr>
        <p:txBody>
          <a:bodyPr/>
          <a:lstStyle>
            <a:lvl1pPr algn="r">
              <a:defRPr smtClean="0"/>
            </a:lvl1pPr>
          </a:lstStyle>
          <a:p>
            <a:pPr>
              <a:defRPr/>
            </a:pPr>
            <a:fld id="{67251A6B-A0CC-5341-8FB1-D335DC8058BD}" type="slidenum">
              <a:rPr lang="en-US" altLang="zh-CN"/>
              <a:pPr>
                <a:defRPr/>
              </a:pPr>
              <a:t>‹#›</a:t>
            </a:fld>
            <a:endParaRPr lang="en-US" altLang="zh-CN"/>
          </a:p>
        </p:txBody>
      </p:sp>
    </p:spTree>
    <p:extLst>
      <p:ext uri="{BB962C8B-B14F-4D97-AF65-F5344CB8AC3E}">
        <p14:creationId xmlns:p14="http://schemas.microsoft.com/office/powerpoint/2010/main" val="1771644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无内容">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04A5031A-AF44-AF43-995F-6BC6D0839521}"/>
              </a:ext>
            </a:extLst>
          </p:cNvPr>
          <p:cNvSpPr>
            <a:spLocks noChangeArrowheads="1"/>
          </p:cNvSpPr>
          <p:nvPr userDrawn="1"/>
        </p:nvSpPr>
        <p:spPr bwMode="auto">
          <a:xfrm>
            <a:off x="395288" y="1041400"/>
            <a:ext cx="8226425" cy="31750"/>
          </a:xfrm>
          <a:prstGeom prst="rect">
            <a:avLst/>
          </a:prstGeom>
          <a:gradFill rotWithShape="0">
            <a:gsLst>
              <a:gs pos="0">
                <a:srgbClr val="FFFFFF"/>
              </a:gs>
              <a:gs pos="100000">
                <a:srgbClr val="808080"/>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6" name="标题 1"/>
          <p:cNvSpPr>
            <a:spLocks noGrp="1"/>
          </p:cNvSpPr>
          <p:nvPr>
            <p:ph type="title"/>
          </p:nvPr>
        </p:nvSpPr>
        <p:spPr>
          <a:xfrm>
            <a:off x="468313" y="333375"/>
            <a:ext cx="8226425" cy="655861"/>
          </a:xfrm>
        </p:spPr>
        <p:txBody>
          <a:bodyPr/>
          <a:lstStyle>
            <a:lvl1pPr algn="l">
              <a:defRPr sz="3600" baseline="0">
                <a:solidFill>
                  <a:srgbClr val="0070C0"/>
                </a:solidFill>
                <a:latin typeface="Times New Roman" panose="02020603050405020304" pitchFamily="18" charset="0"/>
                <a:ea typeface="黑体" panose="02010609060101010101" pitchFamily="49" charset="-122"/>
              </a:defRPr>
            </a:lvl1pPr>
          </a:lstStyle>
          <a:p>
            <a:r>
              <a:rPr lang="zh-CN" altLang="en-US" dirty="0"/>
              <a:t>单击此处编辑母版标题样式</a:t>
            </a:r>
          </a:p>
        </p:txBody>
      </p:sp>
      <p:sp>
        <p:nvSpPr>
          <p:cNvPr id="4" name="Rectangle 5">
            <a:extLst>
              <a:ext uri="{FF2B5EF4-FFF2-40B4-BE49-F238E27FC236}">
                <a16:creationId xmlns:a16="http://schemas.microsoft.com/office/drawing/2014/main" id="{29DACF33-9951-F241-8E4D-7EEBC26DE5B1}"/>
              </a:ext>
            </a:extLst>
          </p:cNvPr>
          <p:cNvSpPr>
            <a:spLocks noGrp="1" noChangeArrowheads="1"/>
          </p:cNvSpPr>
          <p:nvPr>
            <p:ph type="sldNum" idx="10"/>
          </p:nvPr>
        </p:nvSpPr>
        <p:spPr>
          <a:xfrm>
            <a:off x="7956550" y="6432550"/>
            <a:ext cx="738188" cy="288925"/>
          </a:xfrm>
        </p:spPr>
        <p:txBody>
          <a:bodyPr/>
          <a:lstStyle>
            <a:lvl1pPr algn="r">
              <a:defRPr smtClean="0"/>
            </a:lvl1pPr>
          </a:lstStyle>
          <a:p>
            <a:pPr>
              <a:defRPr/>
            </a:pPr>
            <a:fld id="{6A7FB278-1E70-3C42-9C5E-1F6D38878010}" type="slidenum">
              <a:rPr lang="en-US" altLang="zh-CN"/>
              <a:pPr>
                <a:defRPr/>
              </a:pPr>
              <a:t>‹#›</a:t>
            </a:fld>
            <a:endParaRPr lang="en-US" altLang="zh-CN"/>
          </a:p>
        </p:txBody>
      </p:sp>
    </p:spTree>
    <p:extLst>
      <p:ext uri="{BB962C8B-B14F-4D97-AF65-F5344CB8AC3E}">
        <p14:creationId xmlns:p14="http://schemas.microsoft.com/office/powerpoint/2010/main" val="1127469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39DF90F-9F53-8243-9B89-DC48DD4533E5}"/>
              </a:ext>
            </a:extLst>
          </p:cNvPr>
          <p:cNvSpPr>
            <a:spLocks noGrp="1" noChangeArrowheads="1"/>
          </p:cNvSpPr>
          <p:nvPr>
            <p:ph type="sldNum" idx="10"/>
          </p:nvPr>
        </p:nvSpPr>
        <p:spPr>
          <a:ln/>
        </p:spPr>
        <p:txBody>
          <a:bodyPr/>
          <a:lstStyle>
            <a:lvl1pPr>
              <a:defRPr/>
            </a:lvl1pPr>
          </a:lstStyle>
          <a:p>
            <a:pPr algn="r">
              <a:defRPr/>
            </a:pPr>
            <a:r>
              <a:rPr lang="en-US" altLang="zh-CN" dirty="0"/>
              <a:t>1</a:t>
            </a:r>
            <a:fld id="{B71CC962-A7DA-C143-A0F2-B2B48D26705F}" type="slidenum">
              <a:rPr lang="en-US" altLang="zh-CN" smtClean="0"/>
              <a:pPr algn="r">
                <a:defRPr/>
              </a:pPr>
              <a:t>‹#›</a:t>
            </a:fld>
            <a:endParaRPr lang="en-US" altLang="zh-CN" dirty="0"/>
          </a:p>
        </p:txBody>
      </p:sp>
    </p:spTree>
    <p:extLst>
      <p:ext uri="{BB962C8B-B14F-4D97-AF65-F5344CB8AC3E}">
        <p14:creationId xmlns:p14="http://schemas.microsoft.com/office/powerpoint/2010/main" val="3736103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2_标题和内容">
    <p:spTree>
      <p:nvGrpSpPr>
        <p:cNvPr id="1" name=""/>
        <p:cNvGrpSpPr/>
        <p:nvPr/>
      </p:nvGrpSpPr>
      <p:grpSpPr>
        <a:xfrm>
          <a:off x="0" y="0"/>
          <a:ext cx="0" cy="0"/>
          <a:chOff x="0" y="0"/>
          <a:chExt cx="0" cy="0"/>
        </a:xfrm>
      </p:grpSpPr>
      <p:sp>
        <p:nvSpPr>
          <p:cNvPr id="2" name="TextBox 17">
            <a:extLst>
              <a:ext uri="{FF2B5EF4-FFF2-40B4-BE49-F238E27FC236}">
                <a16:creationId xmlns:a16="http://schemas.microsoft.com/office/drawing/2014/main" id="{51C756D6-AE26-7149-A97F-99CFCCA7760E}"/>
              </a:ext>
            </a:extLst>
          </p:cNvPr>
          <p:cNvSpPr txBox="1">
            <a:spLocks noChangeArrowheads="1"/>
          </p:cNvSpPr>
          <p:nvPr/>
        </p:nvSpPr>
        <p:spPr bwMode="auto">
          <a:xfrm>
            <a:off x="8532813" y="6399213"/>
            <a:ext cx="449262"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fld id="{C4B02E32-D474-E04A-9B27-F9136E5F12C8}" type="slidenum">
              <a:rPr kumimoji="1" lang="zh-CN" altLang="en-US" sz="1600">
                <a:solidFill>
                  <a:schemeClr val="tx1"/>
                </a:solidFill>
                <a:latin typeface="Times New Roman" panose="02020603050405020304" pitchFamily="18" charset="0"/>
                <a:ea typeface="宋体" panose="02010600030101010101" pitchFamily="2" charset="-122"/>
                <a:cs typeface="Times New Roman" panose="02020603050405020304" pitchFamily="18" charset="0"/>
              </a:rPr>
              <a:pPr eaLnBrk="1" hangingPunct="1"/>
              <a:t>‹#›</a:t>
            </a:fld>
            <a:endParaRPr kumimoji="1" lang="zh-CN" altLang="en-US" sz="16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76539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5BF2403-A05D-CF4A-A062-DA4DAED27F40}"/>
              </a:ext>
            </a:extLst>
          </p:cNvPr>
          <p:cNvSpPr>
            <a:spLocks noGrp="1"/>
          </p:cNvSpPr>
          <p:nvPr>
            <p:ph type="dt" sz="half" idx="10"/>
          </p:nvPr>
        </p:nvSpPr>
        <p:spPr>
          <a:xfrm>
            <a:off x="0" y="0"/>
            <a:ext cx="0" cy="0"/>
          </a:xfrm>
        </p:spPr>
        <p:txBody>
          <a:bodyPr/>
          <a:lstStyle>
            <a:lvl1pPr>
              <a:defRPr/>
            </a:lvl1pPr>
          </a:lstStyle>
          <a:p>
            <a:pPr>
              <a:defRPr/>
            </a:pPr>
            <a:fld id="{7A09875D-F779-E44D-85C4-0407DFC0F745}" type="datetimeFigureOut">
              <a:rPr lang="en-US"/>
              <a:pPr>
                <a:defRPr/>
              </a:pPr>
              <a:t>5/12/26</a:t>
            </a:fld>
            <a:endParaRPr lang="en-US"/>
          </a:p>
        </p:txBody>
      </p:sp>
      <p:sp>
        <p:nvSpPr>
          <p:cNvPr id="4" name="Footer Placeholder 4">
            <a:extLst>
              <a:ext uri="{FF2B5EF4-FFF2-40B4-BE49-F238E27FC236}">
                <a16:creationId xmlns:a16="http://schemas.microsoft.com/office/drawing/2014/main" id="{1010AB6F-22DF-2B4D-BDFB-21BFC97CA727}"/>
              </a:ext>
            </a:extLst>
          </p:cNvPr>
          <p:cNvSpPr>
            <a:spLocks noGrp="1"/>
          </p:cNvSpPr>
          <p:nvPr>
            <p:ph type="ftr" sz="quarter" idx="11"/>
          </p:nvPr>
        </p:nvSpPr>
        <p:spPr>
          <a:xfrm>
            <a:off x="0" y="0"/>
            <a:ext cx="0" cy="0"/>
          </a:xfrm>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4494152-2BB0-7B40-9764-96056BD38CAD}"/>
              </a:ext>
            </a:extLst>
          </p:cNvPr>
          <p:cNvSpPr>
            <a:spLocks noGrp="1"/>
          </p:cNvSpPr>
          <p:nvPr>
            <p:ph type="sldNum" sz="quarter" idx="12"/>
          </p:nvPr>
        </p:nvSpPr>
        <p:spPr/>
        <p:txBody>
          <a:bodyPr/>
          <a:lstStyle>
            <a:lvl1pPr>
              <a:defRPr smtClean="0"/>
            </a:lvl1pPr>
          </a:lstStyle>
          <a:p>
            <a:pPr>
              <a:defRPr/>
            </a:pPr>
            <a:fld id="{484AFFCE-CD90-B044-80BD-AE4C9ECBCC0E}" type="slidenum">
              <a:rPr lang="en-US" altLang="zh-CN"/>
              <a:pPr>
                <a:defRPr/>
              </a:pPr>
              <a:t>‹#›</a:t>
            </a:fld>
            <a:endParaRPr lang="en-US" altLang="zh-CN"/>
          </a:p>
        </p:txBody>
      </p:sp>
    </p:spTree>
    <p:extLst>
      <p:ext uri="{BB962C8B-B14F-4D97-AF65-F5344CB8AC3E}">
        <p14:creationId xmlns:p14="http://schemas.microsoft.com/office/powerpoint/2010/main" val="1548966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9165E84C-0435-4344-84A0-61E8E887730D}"/>
              </a:ext>
            </a:extLst>
          </p:cNvPr>
          <p:cNvSpPr>
            <a:spLocks noGrp="1" noChangeArrowheads="1"/>
          </p:cNvSpPr>
          <p:nvPr>
            <p:ph type="title"/>
          </p:nvPr>
        </p:nvSpPr>
        <p:spPr bwMode="auto">
          <a:xfrm>
            <a:off x="468313" y="333375"/>
            <a:ext cx="8226425"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zh-CN" altLang="en-GB"/>
              <a:t>单击鼠标编辑标题文字格式</a:t>
            </a:r>
          </a:p>
        </p:txBody>
      </p:sp>
      <p:sp>
        <p:nvSpPr>
          <p:cNvPr id="1027" name="Rectangle 2">
            <a:extLst>
              <a:ext uri="{FF2B5EF4-FFF2-40B4-BE49-F238E27FC236}">
                <a16:creationId xmlns:a16="http://schemas.microsoft.com/office/drawing/2014/main" id="{FC8B134D-870D-E74E-A78E-B973AFC001A8}"/>
              </a:ext>
            </a:extLst>
          </p:cNvPr>
          <p:cNvSpPr>
            <a:spLocks noGrp="1" noChangeArrowheads="1"/>
          </p:cNvSpPr>
          <p:nvPr>
            <p:ph type="body" idx="1"/>
          </p:nvPr>
        </p:nvSpPr>
        <p:spPr bwMode="auto">
          <a:xfrm>
            <a:off x="457200" y="1600200"/>
            <a:ext cx="8226425" cy="452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zh-CN" altLang="en-GB"/>
              <a:t>单击鼠标编辑大纲文字格式</a:t>
            </a:r>
          </a:p>
          <a:p>
            <a:pPr lvl="1"/>
            <a:r>
              <a:rPr lang="zh-CN" altLang="en-GB"/>
              <a:t>第二个大纲级</a:t>
            </a:r>
          </a:p>
          <a:p>
            <a:pPr lvl="2"/>
            <a:r>
              <a:rPr lang="zh-CN" altLang="en-GB"/>
              <a:t>第三大纲级别</a:t>
            </a:r>
          </a:p>
          <a:p>
            <a:pPr lvl="3"/>
            <a:r>
              <a:rPr lang="zh-CN" altLang="en-GB"/>
              <a:t>第四大纲级别</a:t>
            </a:r>
          </a:p>
          <a:p>
            <a:pPr lvl="4"/>
            <a:r>
              <a:rPr lang="zh-CN" altLang="en-GB"/>
              <a:t>第五大纲级别</a:t>
            </a:r>
          </a:p>
          <a:p>
            <a:pPr lvl="4"/>
            <a:r>
              <a:rPr lang="zh-CN" altLang="en-GB"/>
              <a:t>第六大纲级别</a:t>
            </a:r>
          </a:p>
          <a:p>
            <a:pPr lvl="4"/>
            <a:r>
              <a:rPr lang="zh-CN" altLang="en-GB"/>
              <a:t>第七大纲级别</a:t>
            </a:r>
          </a:p>
        </p:txBody>
      </p:sp>
      <p:sp>
        <p:nvSpPr>
          <p:cNvPr id="1028" name="Text Box 3">
            <a:extLst>
              <a:ext uri="{FF2B5EF4-FFF2-40B4-BE49-F238E27FC236}">
                <a16:creationId xmlns:a16="http://schemas.microsoft.com/office/drawing/2014/main" id="{6CEE5D0D-DEB8-9D49-A2EB-F7D7807270AC}"/>
              </a:ext>
            </a:extLst>
          </p:cNvPr>
          <p:cNvSpPr txBox="1">
            <a:spLocks noChangeArrowheads="1"/>
          </p:cNvSpPr>
          <p:nvPr/>
        </p:nvSpPr>
        <p:spPr bwMode="auto">
          <a:xfrm>
            <a:off x="457200" y="6386513"/>
            <a:ext cx="21336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1029" name="Text Box 4">
            <a:extLst>
              <a:ext uri="{FF2B5EF4-FFF2-40B4-BE49-F238E27FC236}">
                <a16:creationId xmlns:a16="http://schemas.microsoft.com/office/drawing/2014/main" id="{7ADEBD8D-B08E-F045-B22A-2C8663F66E6F}"/>
              </a:ext>
            </a:extLst>
          </p:cNvPr>
          <p:cNvSpPr txBox="1">
            <a:spLocks noChangeArrowheads="1"/>
          </p:cNvSpPr>
          <p:nvPr/>
        </p:nvSpPr>
        <p:spPr bwMode="auto">
          <a:xfrm>
            <a:off x="3124200" y="6386513"/>
            <a:ext cx="28956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sp>
        <p:nvSpPr>
          <p:cNvPr id="2" name="Rectangle 5">
            <a:extLst>
              <a:ext uri="{FF2B5EF4-FFF2-40B4-BE49-F238E27FC236}">
                <a16:creationId xmlns:a16="http://schemas.microsoft.com/office/drawing/2014/main" id="{21DC288C-D7BC-8647-BB3D-2F86A0D8A3E0}"/>
              </a:ext>
            </a:extLst>
          </p:cNvPr>
          <p:cNvSpPr>
            <a:spLocks noGrp="1" noChangeArrowheads="1"/>
          </p:cNvSpPr>
          <p:nvPr>
            <p:ph type="sldNum"/>
          </p:nvPr>
        </p:nvSpPr>
        <p:spPr bwMode="auto">
          <a:xfrm>
            <a:off x="6553200" y="6386513"/>
            <a:ext cx="2130425" cy="473075"/>
          </a:xfrm>
          <a:prstGeom prst="rect">
            <a:avLst/>
          </a:prstGeom>
          <a:noFill/>
          <a:ln>
            <a:noFill/>
          </a:ln>
          <a:effectLst/>
        </p:spPr>
        <p:txBody>
          <a:bodyPr vert="horz" wrap="square" lIns="90000" tIns="46800" rIns="90000" bIns="46800" numCol="1" anchor="t" anchorCtr="0" compatLnSpc="1">
            <a:prstTxWarp prst="textNoShape">
              <a:avLst/>
            </a:prstTxWarp>
          </a:bodyPr>
          <a:lstStyle>
            <a:lvl1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defRPr>
            </a:lvl1pPr>
          </a:lstStyle>
          <a:p>
            <a:pPr algn="r">
              <a:defRPr/>
            </a:pPr>
            <a:r>
              <a:rPr lang="en-US" altLang="zh-CN" dirty="0"/>
              <a:t>1</a:t>
            </a:r>
            <a:fld id="{DE08B1C5-478F-6C49-A8BC-DE9BA574BC62}" type="slidenum">
              <a:rPr lang="en-US" altLang="zh-CN" smtClean="0"/>
              <a:pPr algn="r">
                <a:defRPr/>
              </a:pPr>
              <a:t>‹#›</a:t>
            </a:fld>
            <a:endParaRPr lang="en-US" altLang="zh-CN" dirty="0"/>
          </a:p>
        </p:txBody>
      </p:sp>
      <p:sp>
        <p:nvSpPr>
          <p:cNvPr id="1032" name="Line 7">
            <a:extLst>
              <a:ext uri="{FF2B5EF4-FFF2-40B4-BE49-F238E27FC236}">
                <a16:creationId xmlns:a16="http://schemas.microsoft.com/office/drawing/2014/main" id="{A44632FF-F7A1-B747-A904-3B280816B782}"/>
              </a:ext>
            </a:extLst>
          </p:cNvPr>
          <p:cNvSpPr>
            <a:spLocks noChangeShapeType="1"/>
          </p:cNvSpPr>
          <p:nvPr/>
        </p:nvSpPr>
        <p:spPr bwMode="auto">
          <a:xfrm>
            <a:off x="250825" y="620713"/>
            <a:ext cx="8569325" cy="15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CN"/>
          </a:p>
        </p:txBody>
      </p:sp>
      <p:sp>
        <p:nvSpPr>
          <p:cNvPr id="1033" name="Rectangle 8">
            <a:extLst>
              <a:ext uri="{FF2B5EF4-FFF2-40B4-BE49-F238E27FC236}">
                <a16:creationId xmlns:a16="http://schemas.microsoft.com/office/drawing/2014/main" id="{7E7E473B-7E36-FD49-9590-EAED5B086729}"/>
              </a:ext>
            </a:extLst>
          </p:cNvPr>
          <p:cNvSpPr>
            <a:spLocks noChangeArrowheads="1"/>
          </p:cNvSpPr>
          <p:nvPr/>
        </p:nvSpPr>
        <p:spPr bwMode="auto">
          <a:xfrm>
            <a:off x="250825" y="333375"/>
            <a:ext cx="2449513" cy="71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zh-CN" altLang="en-US"/>
          </a:p>
        </p:txBody>
      </p:sp>
      <p:pic>
        <p:nvPicPr>
          <p:cNvPr id="1034" name="Picture 12">
            <a:extLst>
              <a:ext uri="{FF2B5EF4-FFF2-40B4-BE49-F238E27FC236}">
                <a16:creationId xmlns:a16="http://schemas.microsoft.com/office/drawing/2014/main" id="{F90AC8F6-C563-B949-AC26-473EE2B5EE5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7215188" y="125413"/>
            <a:ext cx="1468437"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65" r:id="rId1"/>
    <p:sldLayoutId id="2147483967" r:id="rId2"/>
    <p:sldLayoutId id="2147483968" r:id="rId3"/>
    <p:sldLayoutId id="2147483966" r:id="rId4"/>
    <p:sldLayoutId id="2147483969" r:id="rId5"/>
    <p:sldLayoutId id="2147483970" r:id="rId6"/>
  </p:sldLayoutIdLst>
  <p:txStyles>
    <p:titleStyle>
      <a:lvl1pPr algn="ctr" defTabSz="449263" rtl="0" eaLnBrk="0" fontAlgn="base" hangingPunct="0">
        <a:spcBef>
          <a:spcPct val="0"/>
        </a:spcBef>
        <a:spcAft>
          <a:spcPct val="0"/>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宋体" panose="02010600030101010101" pitchFamily="2" charset="-122"/>
        </a:defRPr>
      </a:lvl2pPr>
      <a:lvl3pPr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宋体" panose="02010600030101010101" pitchFamily="2" charset="-122"/>
        </a:defRPr>
      </a:lvl3pPr>
      <a:lvl4pPr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宋体" panose="02010600030101010101" pitchFamily="2" charset="-122"/>
        </a:defRPr>
      </a:lvl4pPr>
      <a:lvl5pPr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宋体" panose="02010600030101010101" pitchFamily="2" charset="-122"/>
        </a:defRPr>
      </a:lvl5pPr>
      <a:lvl6pPr marL="2514600" indent="-228600"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宋体" panose="02010600030101010101" pitchFamily="2" charset="-122"/>
        </a:defRPr>
      </a:lvl6pPr>
      <a:lvl7pPr marL="2971800" indent="-228600"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宋体" panose="02010600030101010101" pitchFamily="2" charset="-122"/>
        </a:defRPr>
      </a:lvl7pPr>
      <a:lvl8pPr marL="3429000" indent="-228600"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宋体" panose="02010600030101010101" pitchFamily="2" charset="-122"/>
        </a:defRPr>
      </a:lvl8pPr>
      <a:lvl9pPr marL="3886200" indent="-228600" algn="ctr"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宋体" panose="02010600030101010101" pitchFamily="2" charset="-122"/>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49263" rtl="0" eaLnBrk="0" fontAlgn="base" hangingPunct="0">
        <a:spcBef>
          <a:spcPts val="600"/>
        </a:spcBef>
        <a:spcAft>
          <a:spcPct val="0"/>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49263" rtl="0" eaLnBrk="0" fontAlgn="base" hangingPunct="0">
        <a:spcBef>
          <a:spcPts val="500"/>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49263" rtl="0" eaLnBrk="0" fontAlgn="base" hangingPunct="0">
        <a:spcBef>
          <a:spcPts val="500"/>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vmlDrawing" Target="../drawings/vmlDrawing1.v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
            <a:extLst>
              <a:ext uri="{FF2B5EF4-FFF2-40B4-BE49-F238E27FC236}">
                <a16:creationId xmlns:a16="http://schemas.microsoft.com/office/drawing/2014/main" id="{B60F3E1E-F0B4-FB4A-BB67-A714515210B3}"/>
              </a:ext>
            </a:extLst>
          </p:cNvPr>
          <p:cNvSpPr>
            <a:spLocks noGrp="1" noChangeArrowheads="1"/>
          </p:cNvSpPr>
          <p:nvPr>
            <p:ph type="ctrTitle"/>
          </p:nvPr>
        </p:nvSpPr>
        <p:spPr/>
        <p:txBody>
          <a:bodyPr/>
          <a:lstStyle/>
          <a:p>
            <a:r>
              <a:rPr lang="zh-CN" altLang="en-US" dirty="0"/>
              <a:t>基于</a:t>
            </a:r>
            <a:r>
              <a:rPr lang="en-US" altLang="zh-CN" dirty="0" err="1"/>
              <a:t>Wifi</a:t>
            </a:r>
            <a:r>
              <a:rPr lang="zh-CN" altLang="en-US" dirty="0"/>
              <a:t>的定位</a:t>
            </a:r>
          </a:p>
        </p:txBody>
      </p:sp>
      <p:sp>
        <p:nvSpPr>
          <p:cNvPr id="11266" name="副标题 2">
            <a:extLst>
              <a:ext uri="{FF2B5EF4-FFF2-40B4-BE49-F238E27FC236}">
                <a16:creationId xmlns:a16="http://schemas.microsoft.com/office/drawing/2014/main" id="{45AA1F06-E03B-E04A-B464-A9F2B77AB33D}"/>
              </a:ext>
            </a:extLst>
          </p:cNvPr>
          <p:cNvSpPr>
            <a:spLocks noGrp="1" noChangeArrowheads="1"/>
          </p:cNvSpPr>
          <p:nvPr>
            <p:ph type="subTitle" idx="1"/>
          </p:nvPr>
        </p:nvSpPr>
        <p:spPr/>
        <p:txBody>
          <a:bodyPr/>
          <a:lstStyle/>
          <a:p>
            <a:r>
              <a:rPr lang="en-US" altLang="zh-CN" dirty="0"/>
              <a:t>2026</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714" name="Rectangle 1">
            <a:extLst>
              <a:ext uri="{FF2B5EF4-FFF2-40B4-BE49-F238E27FC236}">
                <a16:creationId xmlns:a16="http://schemas.microsoft.com/office/drawing/2014/main" id="{D2C9F563-E529-9347-84D4-2C99E95F02D7}"/>
              </a:ext>
            </a:extLst>
          </p:cNvPr>
          <p:cNvSpPr>
            <a:spLocks noChangeArrowheads="1"/>
          </p:cNvSpPr>
          <p:nvPr/>
        </p:nvSpPr>
        <p:spPr bwMode="auto">
          <a:xfrm>
            <a:off x="539750" y="549275"/>
            <a:ext cx="8496300" cy="5869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spcBef>
                <a:spcPts val="8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0000"/>
                </a:solidFill>
                <a:latin typeface="Arial" panose="020B0604020202020204" pitchFamily="34" charset="0"/>
                <a:ea typeface="宋体" panose="02010600030101010101" pitchFamily="2" charset="-122"/>
              </a:defRPr>
            </a:lvl1pPr>
            <a:lvl2pPr>
              <a:spcBef>
                <a:spcPts val="7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000000"/>
                </a:solidFill>
                <a:latin typeface="Arial" panose="020B0604020202020204" pitchFamily="34" charset="0"/>
                <a:ea typeface="宋体" panose="02010600030101010101" pitchFamily="2" charset="-122"/>
              </a:defRPr>
            </a:lvl2pPr>
            <a:lvl3pPr>
              <a:spcBef>
                <a:spcPts val="6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panose="020B0604020202020204" pitchFamily="34" charset="0"/>
                <a:ea typeface="宋体" panose="02010600030101010101" pitchFamily="2" charset="-122"/>
              </a:defRPr>
            </a:lvl3pPr>
            <a:lvl4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4pPr>
            <a:lvl5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9pPr>
          </a:lstStyle>
          <a:p>
            <a:pPr>
              <a:buClrTx/>
              <a:buFontTx/>
              <a:buNone/>
            </a:pPr>
            <a:r>
              <a:rPr lang="zh-CN" altLang="en-US" b="1" dirty="0">
                <a:solidFill>
                  <a:srgbClr val="C00000"/>
                </a:solidFill>
              </a:rPr>
              <a:t>实验器材</a:t>
            </a:r>
            <a:endParaRPr lang="zh-CN" altLang="zh-CN" b="1" dirty="0">
              <a:solidFill>
                <a:srgbClr val="C00000"/>
              </a:solidFill>
            </a:endParaRPr>
          </a:p>
        </p:txBody>
      </p:sp>
      <p:pic>
        <p:nvPicPr>
          <p:cNvPr id="9" name="Picture 2">
            <a:extLst>
              <a:ext uri="{FF2B5EF4-FFF2-40B4-BE49-F238E27FC236}">
                <a16:creationId xmlns:a16="http://schemas.microsoft.com/office/drawing/2014/main" id="{D5FEA48F-9672-B149-B0DC-3E12D4314DD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0663" b="64527"/>
          <a:stretch/>
        </p:blipFill>
        <p:spPr bwMode="auto">
          <a:xfrm>
            <a:off x="4499992" y="3672791"/>
            <a:ext cx="4536058" cy="28222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0324D01-7C64-5E4B-8318-2D25B9144539}"/>
              </a:ext>
            </a:extLst>
          </p:cNvPr>
          <p:cNvSpPr txBox="1"/>
          <p:nvPr/>
        </p:nvSpPr>
        <p:spPr bwMode="auto">
          <a:xfrm>
            <a:off x="569302" y="1372344"/>
            <a:ext cx="6090929" cy="400110"/>
          </a:xfrm>
          <a:prstGeom prst="rect">
            <a:avLst/>
          </a:prstGeom>
          <a:noFill/>
          <a:ln>
            <a:noFill/>
          </a:ln>
        </p:spPr>
        <p:txBody>
          <a:bodyPr wrap="square">
            <a:spAutoFit/>
          </a:bodyPr>
          <a:lstStyle/>
          <a:p>
            <a:pPr algn="l"/>
            <a:r>
              <a:rPr lang="zh-CN" altLang="en-US" b="0" dirty="0">
                <a:solidFill>
                  <a:srgbClr val="C00000"/>
                </a:solidFill>
                <a:effectLst/>
                <a:latin typeface="ui-sans-serif"/>
              </a:rPr>
              <a:t>硬件：</a:t>
            </a:r>
            <a:r>
              <a:rPr lang="en-US" altLang="zh-CN" b="0" dirty="0">
                <a:solidFill>
                  <a:srgbClr val="C00000"/>
                </a:solidFill>
                <a:effectLst/>
                <a:latin typeface="ui-sans-serif"/>
              </a:rPr>
              <a:t>Esp32-C6</a:t>
            </a:r>
            <a:r>
              <a:rPr lang="zh-CN" altLang="en-US" b="0" dirty="0">
                <a:solidFill>
                  <a:srgbClr val="C00000"/>
                </a:solidFill>
                <a:effectLst/>
                <a:latin typeface="ui-sans-serif"/>
              </a:rPr>
              <a:t> 开发板</a:t>
            </a:r>
          </a:p>
        </p:txBody>
      </p:sp>
      <p:sp>
        <p:nvSpPr>
          <p:cNvPr id="7" name="TextBox 6">
            <a:extLst>
              <a:ext uri="{FF2B5EF4-FFF2-40B4-BE49-F238E27FC236}">
                <a16:creationId xmlns:a16="http://schemas.microsoft.com/office/drawing/2014/main" id="{2313E721-AED6-C042-B596-4F653212F8E3}"/>
              </a:ext>
            </a:extLst>
          </p:cNvPr>
          <p:cNvSpPr txBox="1"/>
          <p:nvPr/>
        </p:nvSpPr>
        <p:spPr bwMode="auto">
          <a:xfrm>
            <a:off x="395536" y="2067073"/>
            <a:ext cx="7128792" cy="1938992"/>
          </a:xfrm>
          <a:prstGeom prst="rect">
            <a:avLst/>
          </a:prstGeom>
          <a:noFill/>
          <a:ln>
            <a:noFill/>
          </a:ln>
        </p:spPr>
        <p:txBody>
          <a:bodyPr wrap="square">
            <a:spAutoFit/>
          </a:bodyPr>
          <a:lstStyle/>
          <a:p>
            <a:pPr marL="342900" indent="-342900" algn="l">
              <a:buFont typeface="Arial" panose="020B0604020202020204" pitchFamily="34" charset="0"/>
              <a:buChar char="•"/>
            </a:pPr>
            <a:r>
              <a:rPr lang="en-US" altLang="zh-CN" b="0" dirty="0">
                <a:solidFill>
                  <a:schemeClr val="tx1"/>
                </a:solidFill>
                <a:effectLst/>
                <a:latin typeface="ui-sans-serif"/>
              </a:rPr>
              <a:t>2.4GHz</a:t>
            </a:r>
            <a:r>
              <a:rPr lang="zh-CN" altLang="en-US" b="0" dirty="0">
                <a:solidFill>
                  <a:schemeClr val="tx1"/>
                </a:solidFill>
                <a:effectLst/>
                <a:latin typeface="ui-sans-serif"/>
              </a:rPr>
              <a:t>的</a:t>
            </a:r>
            <a:r>
              <a:rPr lang="en-US" altLang="zh-CN" b="0" dirty="0" err="1">
                <a:solidFill>
                  <a:schemeClr val="tx1"/>
                </a:solidFill>
                <a:effectLst/>
                <a:latin typeface="ui-sans-serif"/>
              </a:rPr>
              <a:t>Wifi</a:t>
            </a:r>
            <a:r>
              <a:rPr lang="zh-CN" altLang="en-US" dirty="0">
                <a:solidFill>
                  <a:schemeClr val="tx1"/>
                </a:solidFill>
                <a:latin typeface="ui-sans-serif"/>
              </a:rPr>
              <a:t>源</a:t>
            </a:r>
            <a:endParaRPr lang="en-US" altLang="zh-CN" dirty="0">
              <a:solidFill>
                <a:schemeClr val="tx1"/>
              </a:solidFill>
              <a:latin typeface="ui-sans-serif"/>
            </a:endParaRPr>
          </a:p>
          <a:p>
            <a:pPr marL="1085850" lvl="1" indent="-342900">
              <a:buFont typeface="Arial" panose="020B0604020202020204" pitchFamily="34" charset="0"/>
              <a:buChar char="•"/>
            </a:pPr>
            <a:r>
              <a:rPr lang="zh-CN" altLang="en-US" dirty="0">
                <a:solidFill>
                  <a:schemeClr val="tx1"/>
                </a:solidFill>
                <a:latin typeface="ui-sans-serif"/>
              </a:rPr>
              <a:t>有的手机可在设置手机热点选择</a:t>
            </a:r>
            <a:r>
              <a:rPr lang="en-US" altLang="zh-CN" dirty="0">
                <a:solidFill>
                  <a:schemeClr val="tx1"/>
                </a:solidFill>
                <a:latin typeface="ui-sans-serif"/>
              </a:rPr>
              <a:t>2.4GHz</a:t>
            </a:r>
          </a:p>
          <a:p>
            <a:pPr marL="1085850" lvl="1" indent="-342900">
              <a:buFont typeface="Arial" panose="020B0604020202020204" pitchFamily="34" charset="0"/>
              <a:buChar char="•"/>
            </a:pPr>
            <a:r>
              <a:rPr lang="zh-CN" altLang="en-US" dirty="0">
                <a:solidFill>
                  <a:schemeClr val="tx1"/>
                </a:solidFill>
                <a:latin typeface="ui-sans-serif"/>
              </a:rPr>
              <a:t>有的手机不支持</a:t>
            </a:r>
            <a:r>
              <a:rPr lang="en-US" altLang="zh-CN" dirty="0">
                <a:solidFill>
                  <a:schemeClr val="tx1"/>
                </a:solidFill>
                <a:latin typeface="ui-sans-serif"/>
              </a:rPr>
              <a:t>2.4GHz</a:t>
            </a:r>
            <a:r>
              <a:rPr lang="zh-CN" altLang="en-US" dirty="0">
                <a:solidFill>
                  <a:schemeClr val="tx1"/>
                </a:solidFill>
                <a:latin typeface="ui-sans-serif"/>
              </a:rPr>
              <a:t> </a:t>
            </a:r>
            <a:r>
              <a:rPr lang="en-US" altLang="zh-CN" dirty="0" err="1">
                <a:solidFill>
                  <a:schemeClr val="tx1"/>
                </a:solidFill>
                <a:latin typeface="ui-sans-serif"/>
              </a:rPr>
              <a:t>Wifi</a:t>
            </a:r>
            <a:r>
              <a:rPr lang="zh-CN" altLang="en-US" dirty="0">
                <a:solidFill>
                  <a:schemeClr val="tx1"/>
                </a:solidFill>
                <a:latin typeface="ui-sans-serif"/>
              </a:rPr>
              <a:t> </a:t>
            </a:r>
            <a:r>
              <a:rPr lang="en-US" altLang="zh-CN" dirty="0">
                <a:solidFill>
                  <a:schemeClr val="tx1"/>
                </a:solidFill>
                <a:latin typeface="ui-sans-serif"/>
              </a:rPr>
              <a:t>⚠️</a:t>
            </a:r>
            <a:endParaRPr lang="en-US" altLang="zh-CN" b="0" dirty="0">
              <a:solidFill>
                <a:schemeClr val="tx1"/>
              </a:solidFill>
              <a:effectLst/>
              <a:latin typeface="ui-sans-serif"/>
            </a:endParaRPr>
          </a:p>
          <a:p>
            <a:pPr marL="342900" indent="-342900" algn="l">
              <a:buFont typeface="Arial" panose="020B0604020202020204" pitchFamily="34" charset="0"/>
              <a:buChar char="•"/>
            </a:pPr>
            <a:endParaRPr lang="en-US" altLang="zh-CN" b="0" dirty="0">
              <a:solidFill>
                <a:schemeClr val="tx1"/>
              </a:solidFill>
              <a:effectLst/>
              <a:latin typeface="ui-sans-serif"/>
            </a:endParaRPr>
          </a:p>
          <a:p>
            <a:pPr marL="342900" indent="-342900" algn="l">
              <a:buFont typeface="Arial" panose="020B0604020202020204" pitchFamily="34" charset="0"/>
              <a:buChar char="•"/>
            </a:pPr>
            <a:r>
              <a:rPr lang="en-US" altLang="zh-CN" b="0" dirty="0">
                <a:solidFill>
                  <a:schemeClr val="tx1"/>
                </a:solidFill>
                <a:effectLst/>
                <a:latin typeface="ui-sans-serif"/>
              </a:rPr>
              <a:t>Esp32-C6</a:t>
            </a:r>
            <a:r>
              <a:rPr lang="zh-CN" altLang="en-US" b="0" dirty="0">
                <a:solidFill>
                  <a:schemeClr val="tx1"/>
                </a:solidFill>
                <a:effectLst/>
                <a:latin typeface="ui-sans-serif"/>
              </a:rPr>
              <a:t> 开发板在 </a:t>
            </a:r>
            <a:r>
              <a:rPr lang="en-US" altLang="zh-CN" b="0" dirty="0">
                <a:solidFill>
                  <a:schemeClr val="tx1"/>
                </a:solidFill>
                <a:effectLst/>
                <a:latin typeface="ui-sans-serif"/>
              </a:rPr>
              <a:t>Arduino</a:t>
            </a:r>
            <a:r>
              <a:rPr lang="zh-CN" altLang="en-US" b="0" dirty="0">
                <a:solidFill>
                  <a:schemeClr val="tx1"/>
                </a:solidFill>
                <a:effectLst/>
                <a:latin typeface="ui-sans-serif"/>
              </a:rPr>
              <a:t> </a:t>
            </a:r>
            <a:r>
              <a:rPr lang="en-US" altLang="zh-CN" b="0" dirty="0">
                <a:solidFill>
                  <a:schemeClr val="tx1"/>
                </a:solidFill>
                <a:effectLst/>
                <a:latin typeface="ui-sans-serif"/>
              </a:rPr>
              <a:t>IDE</a:t>
            </a:r>
            <a:r>
              <a:rPr lang="zh-CN" altLang="en-US" b="0" dirty="0">
                <a:solidFill>
                  <a:schemeClr val="tx1"/>
                </a:solidFill>
                <a:effectLst/>
                <a:latin typeface="ui-sans-serif"/>
              </a:rPr>
              <a:t> 中的环境配置请参考</a:t>
            </a:r>
            <a:r>
              <a:rPr lang="en-US" altLang="zh-CN" b="0" dirty="0">
                <a:solidFill>
                  <a:schemeClr val="tx1"/>
                </a:solidFill>
                <a:effectLst/>
                <a:latin typeface="ui-sans-serif"/>
              </a:rPr>
              <a:t>《ESP32</a:t>
            </a:r>
            <a:r>
              <a:rPr lang="zh-CN" altLang="en-US" b="0" dirty="0">
                <a:solidFill>
                  <a:schemeClr val="tx1"/>
                </a:solidFill>
                <a:effectLst/>
                <a:latin typeface="ui-sans-serif"/>
              </a:rPr>
              <a:t>物联网开发介绍</a:t>
            </a:r>
            <a:r>
              <a:rPr lang="en-US" altLang="zh-CN" b="0" dirty="0">
                <a:solidFill>
                  <a:schemeClr val="tx1"/>
                </a:solidFill>
                <a:effectLst/>
                <a:latin typeface="ui-sans-serif"/>
              </a:rPr>
              <a:t>》</a:t>
            </a:r>
            <a:r>
              <a:rPr lang="zh-CN" altLang="en-US" b="0" dirty="0">
                <a:solidFill>
                  <a:schemeClr val="tx1"/>
                </a:solidFill>
                <a:effectLst/>
                <a:latin typeface="ui-sans-serif"/>
              </a:rPr>
              <a:t>进行</a:t>
            </a:r>
            <a:r>
              <a:rPr lang="en-US" altLang="zh-CN" b="0" dirty="0">
                <a:solidFill>
                  <a:schemeClr val="tx1"/>
                </a:solidFill>
                <a:effectLst/>
                <a:latin typeface="ui-sans-serif"/>
              </a:rPr>
              <a:t>Esp32</a:t>
            </a:r>
            <a:endParaRPr lang="zh-CN" altLang="en-US" b="0" dirty="0">
              <a:solidFill>
                <a:schemeClr val="tx1"/>
              </a:solidFill>
              <a:effectLst/>
              <a:latin typeface="ui-sans-serif"/>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1">
            <a:extLst>
              <a:ext uri="{FF2B5EF4-FFF2-40B4-BE49-F238E27FC236}">
                <a16:creationId xmlns:a16="http://schemas.microsoft.com/office/drawing/2014/main" id="{D2C9F563-E529-9347-84D4-2C99E95F02D7}"/>
              </a:ext>
            </a:extLst>
          </p:cNvPr>
          <p:cNvSpPr>
            <a:spLocks noChangeArrowheads="1"/>
          </p:cNvSpPr>
          <p:nvPr/>
        </p:nvSpPr>
        <p:spPr bwMode="auto">
          <a:xfrm>
            <a:off x="539750" y="549275"/>
            <a:ext cx="8496300" cy="5869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spcBef>
                <a:spcPts val="8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0000"/>
                </a:solidFill>
                <a:latin typeface="Arial" panose="020B0604020202020204" pitchFamily="34" charset="0"/>
                <a:ea typeface="宋体" panose="02010600030101010101" pitchFamily="2" charset="-122"/>
              </a:defRPr>
            </a:lvl1pPr>
            <a:lvl2pPr>
              <a:spcBef>
                <a:spcPts val="7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000000"/>
                </a:solidFill>
                <a:latin typeface="Arial" panose="020B0604020202020204" pitchFamily="34" charset="0"/>
                <a:ea typeface="宋体" panose="02010600030101010101" pitchFamily="2" charset="-122"/>
              </a:defRPr>
            </a:lvl2pPr>
            <a:lvl3pPr>
              <a:spcBef>
                <a:spcPts val="6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panose="020B0604020202020204" pitchFamily="34" charset="0"/>
                <a:ea typeface="宋体" panose="02010600030101010101" pitchFamily="2" charset="-122"/>
              </a:defRPr>
            </a:lvl3pPr>
            <a:lvl4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4pPr>
            <a:lvl5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9pPr>
          </a:lstStyle>
          <a:p>
            <a:pPr>
              <a:buClrTx/>
              <a:buFontTx/>
              <a:buNone/>
            </a:pPr>
            <a:r>
              <a:rPr lang="zh-CN" altLang="en-US" b="1" dirty="0">
                <a:solidFill>
                  <a:srgbClr val="C00000"/>
                </a:solidFill>
              </a:rPr>
              <a:t>实验器材</a:t>
            </a:r>
            <a:endParaRPr lang="zh-CN" altLang="zh-CN" b="1" dirty="0">
              <a:solidFill>
                <a:srgbClr val="C00000"/>
              </a:solidFill>
            </a:endParaRPr>
          </a:p>
        </p:txBody>
      </p:sp>
      <p:sp>
        <p:nvSpPr>
          <p:cNvPr id="5" name="TextBox 4">
            <a:extLst>
              <a:ext uri="{FF2B5EF4-FFF2-40B4-BE49-F238E27FC236}">
                <a16:creationId xmlns:a16="http://schemas.microsoft.com/office/drawing/2014/main" id="{90324D01-7C64-5E4B-8318-2D25B9144539}"/>
              </a:ext>
            </a:extLst>
          </p:cNvPr>
          <p:cNvSpPr txBox="1"/>
          <p:nvPr/>
        </p:nvSpPr>
        <p:spPr bwMode="auto">
          <a:xfrm>
            <a:off x="569302" y="1372344"/>
            <a:ext cx="6090929" cy="400110"/>
          </a:xfrm>
          <a:prstGeom prst="rect">
            <a:avLst/>
          </a:prstGeom>
          <a:noFill/>
          <a:ln>
            <a:noFill/>
          </a:ln>
        </p:spPr>
        <p:txBody>
          <a:bodyPr wrap="square">
            <a:spAutoFit/>
          </a:bodyPr>
          <a:lstStyle/>
          <a:p>
            <a:pPr algn="l"/>
            <a:r>
              <a:rPr lang="zh-CN" altLang="en-US" b="0" dirty="0">
                <a:solidFill>
                  <a:srgbClr val="C00000"/>
                </a:solidFill>
                <a:effectLst/>
                <a:latin typeface="ui-sans-serif"/>
              </a:rPr>
              <a:t>使用不同开发</a:t>
            </a:r>
            <a:r>
              <a:rPr lang="en-US" altLang="zh-CN" b="0" dirty="0">
                <a:solidFill>
                  <a:srgbClr val="C00000"/>
                </a:solidFill>
                <a:effectLst/>
                <a:latin typeface="ui-sans-serif"/>
              </a:rPr>
              <a:t>IDE</a:t>
            </a:r>
            <a:r>
              <a:rPr lang="zh-CN" altLang="en-US" b="0" dirty="0">
                <a:solidFill>
                  <a:srgbClr val="C00000"/>
                </a:solidFill>
                <a:effectLst/>
                <a:latin typeface="ui-sans-serif"/>
              </a:rPr>
              <a:t>时，对 </a:t>
            </a:r>
            <a:r>
              <a:rPr lang="en-US" altLang="zh-CN" b="0" dirty="0">
                <a:solidFill>
                  <a:srgbClr val="C00000"/>
                </a:solidFill>
                <a:effectLst/>
                <a:latin typeface="ui-sans-serif"/>
              </a:rPr>
              <a:t>RSSI</a:t>
            </a:r>
            <a:r>
              <a:rPr lang="zh-CN" altLang="en-US" b="0" dirty="0">
                <a:solidFill>
                  <a:srgbClr val="C00000"/>
                </a:solidFill>
                <a:effectLst/>
                <a:latin typeface="ui-sans-serif"/>
              </a:rPr>
              <a:t> 和 </a:t>
            </a:r>
            <a:r>
              <a:rPr lang="en-US" altLang="zh-CN" b="0" dirty="0">
                <a:solidFill>
                  <a:srgbClr val="C00000"/>
                </a:solidFill>
                <a:effectLst/>
                <a:latin typeface="ui-sans-serif"/>
              </a:rPr>
              <a:t>CSI</a:t>
            </a:r>
            <a:r>
              <a:rPr lang="zh-CN" altLang="en-US" dirty="0">
                <a:solidFill>
                  <a:srgbClr val="C00000"/>
                </a:solidFill>
                <a:latin typeface="ui-sans-serif"/>
              </a:rPr>
              <a:t>的支持不同！</a:t>
            </a:r>
            <a:endParaRPr lang="zh-CN" altLang="en-US" b="0" dirty="0">
              <a:solidFill>
                <a:srgbClr val="C00000"/>
              </a:solidFill>
              <a:effectLst/>
              <a:latin typeface="ui-sans-serif"/>
            </a:endParaRPr>
          </a:p>
        </p:txBody>
      </p:sp>
      <p:graphicFrame>
        <p:nvGraphicFramePr>
          <p:cNvPr id="3" name="Table 2">
            <a:extLst>
              <a:ext uri="{FF2B5EF4-FFF2-40B4-BE49-F238E27FC236}">
                <a16:creationId xmlns:a16="http://schemas.microsoft.com/office/drawing/2014/main" id="{E67FD3D0-1FA6-1142-838E-70C1FEB11F6A}"/>
              </a:ext>
            </a:extLst>
          </p:cNvPr>
          <p:cNvGraphicFramePr>
            <a:graphicFrameLocks noGrp="1"/>
          </p:cNvGraphicFramePr>
          <p:nvPr>
            <p:extLst>
              <p:ext uri="{D42A27DB-BD31-4B8C-83A1-F6EECF244321}">
                <p14:modId xmlns:p14="http://schemas.microsoft.com/office/powerpoint/2010/main" val="1155479079"/>
              </p:ext>
            </p:extLst>
          </p:nvPr>
        </p:nvGraphicFramePr>
        <p:xfrm>
          <a:off x="539411" y="2103120"/>
          <a:ext cx="7632849" cy="2651760"/>
        </p:xfrm>
        <a:graphic>
          <a:graphicData uri="http://schemas.openxmlformats.org/drawingml/2006/table">
            <a:tbl>
              <a:tblPr>
                <a:tableStyleId>{2D5ABB26-0587-4C30-8999-92F81FD0307C}</a:tableStyleId>
              </a:tblPr>
              <a:tblGrid>
                <a:gridCol w="1656184">
                  <a:extLst>
                    <a:ext uri="{9D8B030D-6E8A-4147-A177-3AD203B41FA5}">
                      <a16:colId xmlns:a16="http://schemas.microsoft.com/office/drawing/2014/main" val="2757613881"/>
                    </a:ext>
                  </a:extLst>
                </a:gridCol>
                <a:gridCol w="3168352">
                  <a:extLst>
                    <a:ext uri="{9D8B030D-6E8A-4147-A177-3AD203B41FA5}">
                      <a16:colId xmlns:a16="http://schemas.microsoft.com/office/drawing/2014/main" val="769252658"/>
                    </a:ext>
                  </a:extLst>
                </a:gridCol>
                <a:gridCol w="2808313">
                  <a:extLst>
                    <a:ext uri="{9D8B030D-6E8A-4147-A177-3AD203B41FA5}">
                      <a16:colId xmlns:a16="http://schemas.microsoft.com/office/drawing/2014/main" val="441467833"/>
                    </a:ext>
                  </a:extLst>
                </a:gridCol>
              </a:tblGrid>
              <a:tr h="365760">
                <a:tc>
                  <a:txBody>
                    <a:bodyPr/>
                    <a:lstStyle/>
                    <a:p>
                      <a:pPr algn="l"/>
                      <a:r>
                        <a:rPr lang="zh-CN" altLang="en-US" sz="1800"/>
                        <a:t>对比维度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t>Arduino </a:t>
                      </a:r>
                      <a:r>
                        <a:rPr lang="zh-CN" altLang="en-US" sz="1800" dirty="0"/>
                        <a:t>开发环境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a:t>ESP-IDF </a:t>
                      </a:r>
                      <a:r>
                        <a:rPr lang="zh-CN" altLang="en-US" sz="1800"/>
                        <a:t>官方环境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6363287"/>
                  </a:ext>
                </a:extLst>
              </a:tr>
              <a:tr h="640080">
                <a:tc>
                  <a:txBody>
                    <a:bodyPr/>
                    <a:lstStyle/>
                    <a:p>
                      <a:pPr algn="l"/>
                      <a:r>
                        <a:rPr lang="en-US" sz="1800"/>
                        <a:t>CSI </a:t>
                      </a:r>
                      <a:r>
                        <a:rPr lang="zh-CN" altLang="en-US" sz="1800"/>
                        <a:t>接口支持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800" dirty="0"/>
                        <a:t>无官方库，需魔改底层驱动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800" dirty="0"/>
                        <a:t>官方原生支持，提供标准 </a:t>
                      </a:r>
                      <a:r>
                        <a:rPr lang="en-US" sz="1800" dirty="0"/>
                        <a:t>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0355422"/>
                  </a:ext>
                </a:extLst>
              </a:tr>
              <a:tr h="365760">
                <a:tc>
                  <a:txBody>
                    <a:bodyPr/>
                    <a:lstStyle/>
                    <a:p>
                      <a:pPr algn="l"/>
                      <a:r>
                        <a:rPr lang="zh-CN" altLang="en-US" sz="1800" dirty="0"/>
                        <a:t>上手难度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800"/>
                        <a:t>配置极其繁琐，容易踩坑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800" dirty="0"/>
                        <a:t>提供现成例程，开箱即用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5210693"/>
                  </a:ext>
                </a:extLst>
              </a:tr>
              <a:tr h="640080">
                <a:tc>
                  <a:txBody>
                    <a:bodyPr/>
                    <a:lstStyle/>
                    <a:p>
                      <a:pPr algn="l"/>
                      <a:r>
                        <a:rPr lang="zh-CN" altLang="en-US" sz="1800"/>
                        <a:t>功能完整性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800"/>
                        <a:t>仅能勉强获取原始数据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800"/>
                        <a:t>支持主动</a:t>
                      </a:r>
                      <a:r>
                        <a:rPr lang="en-US" altLang="zh-CN" sz="1800"/>
                        <a:t>/</a:t>
                      </a:r>
                      <a:r>
                        <a:rPr lang="zh-CN" altLang="en-US" sz="1800"/>
                        <a:t>被动采集、多设备同步、数据解析工具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4783135"/>
                  </a:ext>
                </a:extLst>
              </a:tr>
              <a:tr h="640080">
                <a:tc>
                  <a:txBody>
                    <a:bodyPr/>
                    <a:lstStyle/>
                    <a:p>
                      <a:pPr algn="l"/>
                      <a:r>
                        <a:rPr lang="zh-CN" altLang="en-US" sz="1800"/>
                        <a:t>适合场景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800"/>
                        <a:t>简单的 </a:t>
                      </a:r>
                      <a:r>
                        <a:rPr lang="en-US" sz="1800"/>
                        <a:t>Wi-Fi </a:t>
                      </a:r>
                      <a:r>
                        <a:rPr lang="zh-CN" altLang="en-US" sz="1800"/>
                        <a:t>连接、</a:t>
                      </a:r>
                      <a:r>
                        <a:rPr lang="en-US" sz="1800"/>
                        <a:t>GPIO </a:t>
                      </a:r>
                      <a:r>
                        <a:rPr lang="zh-CN" altLang="en-US" sz="1800"/>
                        <a:t>控制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highlight>
                            <a:srgbClr val="FFFF00"/>
                          </a:highlight>
                        </a:rPr>
                        <a:t>CSI </a:t>
                      </a:r>
                      <a:r>
                        <a:rPr lang="zh-CN" altLang="en-US" sz="1800" dirty="0"/>
                        <a:t>定位、雷达感知、复杂物联网应用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27207"/>
                  </a:ext>
                </a:extLst>
              </a:tr>
            </a:tbl>
          </a:graphicData>
        </a:graphic>
      </p:graphicFrame>
      <p:cxnSp>
        <p:nvCxnSpPr>
          <p:cNvPr id="4" name="Straight Arrow Connector 3">
            <a:extLst>
              <a:ext uri="{FF2B5EF4-FFF2-40B4-BE49-F238E27FC236}">
                <a16:creationId xmlns:a16="http://schemas.microsoft.com/office/drawing/2014/main" id="{C363911D-6A60-F24A-B889-2C50FE1BC766}"/>
              </a:ext>
            </a:extLst>
          </p:cNvPr>
          <p:cNvCxnSpPr/>
          <p:nvPr/>
        </p:nvCxnSpPr>
        <p:spPr bwMode="auto">
          <a:xfrm flipH="1" flipV="1">
            <a:off x="5652120" y="4869160"/>
            <a:ext cx="216024" cy="792088"/>
          </a:xfrm>
          <a:prstGeom prst="straightConnector1">
            <a:avLst/>
          </a:prstGeom>
          <a:solidFill>
            <a:srgbClr val="00B8FF"/>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Box 9">
            <a:extLst>
              <a:ext uri="{FF2B5EF4-FFF2-40B4-BE49-F238E27FC236}">
                <a16:creationId xmlns:a16="http://schemas.microsoft.com/office/drawing/2014/main" id="{1786BE05-EBD2-1548-8AD1-B0387BC2C0AD}"/>
              </a:ext>
            </a:extLst>
          </p:cNvPr>
          <p:cNvSpPr txBox="1"/>
          <p:nvPr/>
        </p:nvSpPr>
        <p:spPr bwMode="auto">
          <a:xfrm>
            <a:off x="5076056" y="5661248"/>
            <a:ext cx="3563888" cy="707886"/>
          </a:xfrm>
          <a:prstGeom prst="rect">
            <a:avLst/>
          </a:prstGeom>
          <a:noFill/>
          <a:ln>
            <a:noFill/>
          </a:ln>
        </p:spPr>
        <p:txBody>
          <a:bodyPr wrap="square">
            <a:spAutoFit/>
          </a:bodyPr>
          <a:lstStyle/>
          <a:p>
            <a:r>
              <a:rPr lang="zh-CN" altLang="en-US" sz="2000" dirty="0">
                <a:solidFill>
                  <a:schemeClr val="tx1"/>
                </a:solidFill>
              </a:rPr>
              <a:t>鼓励计算机专业同学积极探索并在大作业中使用！</a:t>
            </a:r>
            <a:endParaRPr lang="en-CN" dirty="0">
              <a:solidFill>
                <a:schemeClr val="tx1"/>
              </a:solidFill>
            </a:endParaRPr>
          </a:p>
        </p:txBody>
      </p:sp>
    </p:spTree>
    <p:extLst>
      <p:ext uri="{BB962C8B-B14F-4D97-AF65-F5344CB8AC3E}">
        <p14:creationId xmlns:p14="http://schemas.microsoft.com/office/powerpoint/2010/main" val="222287067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E5180C-28F3-7049-A477-E9BD7E237612}"/>
              </a:ext>
            </a:extLst>
          </p:cNvPr>
          <p:cNvSpPr txBox="1"/>
          <p:nvPr/>
        </p:nvSpPr>
        <p:spPr bwMode="auto">
          <a:xfrm>
            <a:off x="467544" y="548680"/>
            <a:ext cx="7920880" cy="1323439"/>
          </a:xfrm>
          <a:prstGeom prst="rect">
            <a:avLst/>
          </a:prstGeom>
          <a:noFill/>
          <a:ln>
            <a:noFill/>
          </a:ln>
        </p:spPr>
        <p:txBody>
          <a:bodyPr wrap="square">
            <a:spAutoFit/>
          </a:bodyPr>
          <a:lstStyle/>
          <a:p>
            <a:pPr algn="l"/>
            <a:endParaRPr lang="en-US" altLang="zh-CN" dirty="0">
              <a:solidFill>
                <a:srgbClr val="C00000"/>
              </a:solidFill>
              <a:latin typeface="ui-sans-serif"/>
            </a:endParaRPr>
          </a:p>
          <a:p>
            <a:pPr algn="l"/>
            <a:r>
              <a:rPr lang="en-US" altLang="zh-CN" b="0" dirty="0" err="1">
                <a:solidFill>
                  <a:srgbClr val="C00000"/>
                </a:solidFill>
                <a:effectLst/>
                <a:latin typeface="ui-sans-serif"/>
              </a:rPr>
              <a:t>Wifi</a:t>
            </a:r>
            <a:r>
              <a:rPr lang="en-US" altLang="zh-CN" b="0" dirty="0">
                <a:solidFill>
                  <a:srgbClr val="C00000"/>
                </a:solidFill>
                <a:effectLst/>
                <a:latin typeface="ui-sans-serif"/>
              </a:rPr>
              <a:t> </a:t>
            </a:r>
            <a:r>
              <a:rPr lang="zh-CN" altLang="en-US" dirty="0">
                <a:solidFill>
                  <a:srgbClr val="C00000"/>
                </a:solidFill>
                <a:latin typeface="ui-sans-serif"/>
              </a:rPr>
              <a:t>扫描：查看周围的</a:t>
            </a:r>
            <a:r>
              <a:rPr lang="en-US" altLang="zh-CN" dirty="0" err="1">
                <a:solidFill>
                  <a:srgbClr val="C00000"/>
                </a:solidFill>
                <a:latin typeface="ui-sans-serif"/>
              </a:rPr>
              <a:t>Wifi</a:t>
            </a:r>
            <a:r>
              <a:rPr lang="zh-CN" altLang="en-US" dirty="0">
                <a:solidFill>
                  <a:srgbClr val="C00000"/>
                </a:solidFill>
                <a:latin typeface="ui-sans-serif"/>
              </a:rPr>
              <a:t>及其</a:t>
            </a:r>
            <a:r>
              <a:rPr lang="en-US" altLang="zh-CN" dirty="0">
                <a:solidFill>
                  <a:srgbClr val="C00000"/>
                </a:solidFill>
                <a:latin typeface="ui-sans-serif"/>
              </a:rPr>
              <a:t>RSSI</a:t>
            </a:r>
            <a:endParaRPr lang="en-US" altLang="zh-CN" b="0" dirty="0">
              <a:solidFill>
                <a:srgbClr val="C00000"/>
              </a:solidFill>
              <a:effectLst/>
              <a:latin typeface="ui-sans-serif"/>
            </a:endParaRPr>
          </a:p>
          <a:p>
            <a:pPr algn="l"/>
            <a:endParaRPr lang="zh-CN" altLang="en-US" b="0" dirty="0">
              <a:solidFill>
                <a:srgbClr val="000000"/>
              </a:solidFill>
              <a:effectLst/>
              <a:latin typeface="ui-sans-serif"/>
            </a:endParaRPr>
          </a:p>
          <a:p>
            <a:pPr algn="l"/>
            <a:endParaRPr lang="en-US" altLang="zh-CN" b="0" dirty="0">
              <a:solidFill>
                <a:srgbClr val="000000"/>
              </a:solidFill>
              <a:effectLst/>
              <a:latin typeface="ui-sans-serif"/>
            </a:endParaRPr>
          </a:p>
        </p:txBody>
      </p:sp>
      <p:pic>
        <p:nvPicPr>
          <p:cNvPr id="2050" name="Picture 2" descr="ESP32 Scan WiFi Networks">
            <a:extLst>
              <a:ext uri="{FF2B5EF4-FFF2-40B4-BE49-F238E27FC236}">
                <a16:creationId xmlns:a16="http://schemas.microsoft.com/office/drawing/2014/main" id="{B8F89584-D798-2743-84EF-C477922B93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2060848"/>
            <a:ext cx="4419611" cy="233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111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E5180C-28F3-7049-A477-E9BD7E237612}"/>
              </a:ext>
            </a:extLst>
          </p:cNvPr>
          <p:cNvSpPr txBox="1"/>
          <p:nvPr/>
        </p:nvSpPr>
        <p:spPr bwMode="auto">
          <a:xfrm>
            <a:off x="467544" y="548680"/>
            <a:ext cx="7920880" cy="1323439"/>
          </a:xfrm>
          <a:prstGeom prst="rect">
            <a:avLst/>
          </a:prstGeom>
          <a:noFill/>
          <a:ln>
            <a:noFill/>
          </a:ln>
        </p:spPr>
        <p:txBody>
          <a:bodyPr wrap="square">
            <a:spAutoFit/>
          </a:bodyPr>
          <a:lstStyle/>
          <a:p>
            <a:pPr algn="l"/>
            <a:endParaRPr lang="en-US" altLang="zh-CN" dirty="0">
              <a:solidFill>
                <a:srgbClr val="C00000"/>
              </a:solidFill>
              <a:latin typeface="ui-sans-serif"/>
            </a:endParaRPr>
          </a:p>
          <a:p>
            <a:pPr algn="l"/>
            <a:r>
              <a:rPr lang="en-US" altLang="zh-CN" b="0" dirty="0" err="1">
                <a:solidFill>
                  <a:srgbClr val="C00000"/>
                </a:solidFill>
                <a:effectLst/>
                <a:latin typeface="ui-sans-serif"/>
              </a:rPr>
              <a:t>Wifi</a:t>
            </a:r>
            <a:r>
              <a:rPr lang="en-US" altLang="zh-CN" b="0" dirty="0">
                <a:solidFill>
                  <a:srgbClr val="C00000"/>
                </a:solidFill>
                <a:effectLst/>
                <a:latin typeface="ui-sans-serif"/>
              </a:rPr>
              <a:t> </a:t>
            </a:r>
            <a:r>
              <a:rPr lang="zh-CN" altLang="en-US" dirty="0">
                <a:solidFill>
                  <a:srgbClr val="C00000"/>
                </a:solidFill>
                <a:latin typeface="ui-sans-serif"/>
              </a:rPr>
              <a:t>扫描：查看周围的</a:t>
            </a:r>
            <a:r>
              <a:rPr lang="en-US" altLang="zh-CN" dirty="0" err="1">
                <a:solidFill>
                  <a:srgbClr val="C00000"/>
                </a:solidFill>
                <a:latin typeface="ui-sans-serif"/>
              </a:rPr>
              <a:t>Wifi</a:t>
            </a:r>
            <a:r>
              <a:rPr lang="zh-CN" altLang="en-US" dirty="0">
                <a:solidFill>
                  <a:srgbClr val="C00000"/>
                </a:solidFill>
                <a:latin typeface="ui-sans-serif"/>
              </a:rPr>
              <a:t>及其</a:t>
            </a:r>
            <a:r>
              <a:rPr lang="en-US" altLang="zh-CN" dirty="0">
                <a:solidFill>
                  <a:srgbClr val="C00000"/>
                </a:solidFill>
                <a:latin typeface="ui-sans-serif"/>
              </a:rPr>
              <a:t>RSSI</a:t>
            </a:r>
            <a:endParaRPr lang="en-US" altLang="zh-CN" b="0" dirty="0">
              <a:solidFill>
                <a:srgbClr val="C00000"/>
              </a:solidFill>
              <a:effectLst/>
              <a:latin typeface="ui-sans-serif"/>
            </a:endParaRPr>
          </a:p>
          <a:p>
            <a:pPr algn="l"/>
            <a:endParaRPr lang="zh-CN" altLang="en-US" b="0" dirty="0">
              <a:solidFill>
                <a:srgbClr val="000000"/>
              </a:solidFill>
              <a:effectLst/>
              <a:latin typeface="ui-sans-serif"/>
            </a:endParaRPr>
          </a:p>
          <a:p>
            <a:pPr algn="l"/>
            <a:endParaRPr lang="en-US" altLang="zh-CN" b="0" dirty="0">
              <a:solidFill>
                <a:srgbClr val="000000"/>
              </a:solidFill>
              <a:effectLst/>
              <a:latin typeface="ui-sans-serif"/>
            </a:endParaRPr>
          </a:p>
        </p:txBody>
      </p:sp>
      <p:pic>
        <p:nvPicPr>
          <p:cNvPr id="2052" name="Picture 4">
            <a:extLst>
              <a:ext uri="{FF2B5EF4-FFF2-40B4-BE49-F238E27FC236}">
                <a16:creationId xmlns:a16="http://schemas.microsoft.com/office/drawing/2014/main" id="{D5BE4F22-3EA2-F34A-A7B0-3828AE7918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562" y="3469928"/>
            <a:ext cx="6797436" cy="223511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DF85F5B-91FD-6045-90E1-346DF8F12D6E}"/>
              </a:ext>
            </a:extLst>
          </p:cNvPr>
          <p:cNvSpPr txBox="1"/>
          <p:nvPr/>
        </p:nvSpPr>
        <p:spPr bwMode="auto">
          <a:xfrm>
            <a:off x="457672" y="1753840"/>
            <a:ext cx="4690392" cy="400110"/>
          </a:xfrm>
          <a:prstGeom prst="rect">
            <a:avLst/>
          </a:prstGeom>
          <a:noFill/>
          <a:ln>
            <a:noFill/>
          </a:ln>
        </p:spPr>
        <p:txBody>
          <a:bodyPr wrap="square">
            <a:spAutoFit/>
          </a:bodyPr>
          <a:lstStyle/>
          <a:p>
            <a:pPr marL="342900" indent="-342900" algn="l">
              <a:buFont typeface="Arial" panose="020B0604020202020204" pitchFamily="34" charset="0"/>
              <a:buChar char="•"/>
            </a:pPr>
            <a:r>
              <a:rPr lang="en-US" altLang="zh-CN" b="0" dirty="0">
                <a:solidFill>
                  <a:srgbClr val="000000"/>
                </a:solidFill>
                <a:effectLst/>
                <a:latin typeface="ui-sans-serif"/>
              </a:rPr>
              <a:t>ESP32</a:t>
            </a:r>
            <a:r>
              <a:rPr lang="zh-CN" altLang="en-US" b="0" dirty="0">
                <a:solidFill>
                  <a:srgbClr val="000000"/>
                </a:solidFill>
                <a:effectLst/>
                <a:latin typeface="ui-sans-serif"/>
              </a:rPr>
              <a:t>提供了示例程序，扫描</a:t>
            </a:r>
            <a:r>
              <a:rPr lang="en-US" altLang="zh-CN" b="0" dirty="0" err="1">
                <a:solidFill>
                  <a:srgbClr val="000000"/>
                </a:solidFill>
                <a:effectLst/>
                <a:latin typeface="ui-sans-serif"/>
              </a:rPr>
              <a:t>Wifi</a:t>
            </a:r>
            <a:endParaRPr lang="en-US" altLang="zh-CN" b="0" dirty="0">
              <a:solidFill>
                <a:srgbClr val="000000"/>
              </a:solidFill>
              <a:effectLst/>
              <a:latin typeface="ui-sans-serif"/>
            </a:endParaRPr>
          </a:p>
        </p:txBody>
      </p:sp>
      <p:pic>
        <p:nvPicPr>
          <p:cNvPr id="6" name="Picture 5">
            <a:extLst>
              <a:ext uri="{FF2B5EF4-FFF2-40B4-BE49-F238E27FC236}">
                <a16:creationId xmlns:a16="http://schemas.microsoft.com/office/drawing/2014/main" id="{FD0018BC-9859-9249-A308-2EEA963AF488}"/>
              </a:ext>
            </a:extLst>
          </p:cNvPr>
          <p:cNvPicPr>
            <a:picLocks noChangeAspect="1"/>
          </p:cNvPicPr>
          <p:nvPr/>
        </p:nvPicPr>
        <p:blipFill>
          <a:blip r:embed="rId3"/>
          <a:stretch>
            <a:fillRect/>
          </a:stretch>
        </p:blipFill>
        <p:spPr>
          <a:xfrm>
            <a:off x="5451898" y="796166"/>
            <a:ext cx="2952326" cy="6063318"/>
          </a:xfrm>
          <a:prstGeom prst="rect">
            <a:avLst/>
          </a:prstGeom>
        </p:spPr>
      </p:pic>
      <p:sp>
        <p:nvSpPr>
          <p:cNvPr id="8" name="TextBox 7">
            <a:extLst>
              <a:ext uri="{FF2B5EF4-FFF2-40B4-BE49-F238E27FC236}">
                <a16:creationId xmlns:a16="http://schemas.microsoft.com/office/drawing/2014/main" id="{9FAD2664-A1DC-6141-A2C1-41E382E01D29}"/>
              </a:ext>
            </a:extLst>
          </p:cNvPr>
          <p:cNvSpPr txBox="1"/>
          <p:nvPr/>
        </p:nvSpPr>
        <p:spPr bwMode="auto">
          <a:xfrm>
            <a:off x="1547664" y="5733256"/>
            <a:ext cx="2160240" cy="400110"/>
          </a:xfrm>
          <a:prstGeom prst="rect">
            <a:avLst/>
          </a:prstGeom>
          <a:noFill/>
          <a:ln>
            <a:noFill/>
          </a:ln>
        </p:spPr>
        <p:txBody>
          <a:bodyPr wrap="square">
            <a:spAutoFit/>
          </a:bodyPr>
          <a:lstStyle/>
          <a:p>
            <a:pPr marL="342900" indent="-342900" algn="l">
              <a:buFont typeface="Arial" panose="020B0604020202020204" pitchFamily="34" charset="0"/>
              <a:buChar char="•"/>
            </a:pPr>
            <a:r>
              <a:rPr lang="zh-CN" altLang="en-US" b="0" dirty="0">
                <a:solidFill>
                  <a:srgbClr val="000000"/>
                </a:solidFill>
                <a:effectLst/>
                <a:latin typeface="ui-sans-serif"/>
              </a:rPr>
              <a:t>扫描</a:t>
            </a:r>
            <a:r>
              <a:rPr lang="en-US" altLang="zh-CN" b="0" dirty="0" err="1">
                <a:solidFill>
                  <a:srgbClr val="000000"/>
                </a:solidFill>
                <a:effectLst/>
                <a:latin typeface="ui-sans-serif"/>
              </a:rPr>
              <a:t>Wifi</a:t>
            </a:r>
            <a:r>
              <a:rPr lang="zh-CN" altLang="en-US" b="0" dirty="0">
                <a:solidFill>
                  <a:srgbClr val="000000"/>
                </a:solidFill>
                <a:effectLst/>
                <a:latin typeface="ui-sans-serif"/>
              </a:rPr>
              <a:t>结果</a:t>
            </a:r>
            <a:endParaRPr lang="en-US" altLang="zh-CN" b="0" dirty="0">
              <a:solidFill>
                <a:srgbClr val="000000"/>
              </a:solidFill>
              <a:effectLst/>
              <a:latin typeface="ui-sans-serif"/>
            </a:endParaRPr>
          </a:p>
        </p:txBody>
      </p:sp>
    </p:spTree>
    <p:extLst>
      <p:ext uri="{BB962C8B-B14F-4D97-AF65-F5344CB8AC3E}">
        <p14:creationId xmlns:p14="http://schemas.microsoft.com/office/powerpoint/2010/main" val="8813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1">
            <a:extLst>
              <a:ext uri="{FF2B5EF4-FFF2-40B4-BE49-F238E27FC236}">
                <a16:creationId xmlns:a16="http://schemas.microsoft.com/office/drawing/2014/main" id="{D2C9F563-E529-9347-84D4-2C99E95F02D7}"/>
              </a:ext>
            </a:extLst>
          </p:cNvPr>
          <p:cNvSpPr>
            <a:spLocks noChangeArrowheads="1"/>
          </p:cNvSpPr>
          <p:nvPr/>
        </p:nvSpPr>
        <p:spPr bwMode="auto">
          <a:xfrm>
            <a:off x="539750" y="549275"/>
            <a:ext cx="8496300" cy="5869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spcBef>
                <a:spcPts val="8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0000"/>
                </a:solidFill>
                <a:latin typeface="Arial" panose="020B0604020202020204" pitchFamily="34" charset="0"/>
                <a:ea typeface="宋体" panose="02010600030101010101" pitchFamily="2" charset="-122"/>
              </a:defRPr>
            </a:lvl1pPr>
            <a:lvl2pPr>
              <a:spcBef>
                <a:spcPts val="7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000000"/>
                </a:solidFill>
                <a:latin typeface="Arial" panose="020B0604020202020204" pitchFamily="34" charset="0"/>
                <a:ea typeface="宋体" panose="02010600030101010101" pitchFamily="2" charset="-122"/>
              </a:defRPr>
            </a:lvl2pPr>
            <a:lvl3pPr>
              <a:spcBef>
                <a:spcPts val="6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panose="020B0604020202020204" pitchFamily="34" charset="0"/>
                <a:ea typeface="宋体" panose="02010600030101010101" pitchFamily="2" charset="-122"/>
              </a:defRPr>
            </a:lvl3pPr>
            <a:lvl4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4pPr>
            <a:lvl5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9pPr>
          </a:lstStyle>
          <a:p>
            <a:pPr>
              <a:buClrTx/>
              <a:buFontTx/>
              <a:buNone/>
            </a:pPr>
            <a:r>
              <a:rPr lang="zh-CN" altLang="en-US" b="1" dirty="0">
                <a:solidFill>
                  <a:srgbClr val="C00000"/>
                </a:solidFill>
              </a:rPr>
              <a:t>实验器材</a:t>
            </a:r>
            <a:endParaRPr lang="zh-CN" altLang="zh-CN" b="1" dirty="0">
              <a:solidFill>
                <a:srgbClr val="C00000"/>
              </a:solidFill>
            </a:endParaRPr>
          </a:p>
        </p:txBody>
      </p:sp>
      <p:sp>
        <p:nvSpPr>
          <p:cNvPr id="7" name="TextBox 6">
            <a:extLst>
              <a:ext uri="{FF2B5EF4-FFF2-40B4-BE49-F238E27FC236}">
                <a16:creationId xmlns:a16="http://schemas.microsoft.com/office/drawing/2014/main" id="{2313E721-AED6-C042-B596-4F653212F8E3}"/>
              </a:ext>
            </a:extLst>
          </p:cNvPr>
          <p:cNvSpPr txBox="1"/>
          <p:nvPr/>
        </p:nvSpPr>
        <p:spPr bwMode="auto">
          <a:xfrm>
            <a:off x="449288" y="1726269"/>
            <a:ext cx="4698776" cy="2308324"/>
          </a:xfrm>
          <a:prstGeom prst="rect">
            <a:avLst/>
          </a:prstGeom>
          <a:noFill/>
          <a:ln>
            <a:noFill/>
          </a:ln>
        </p:spPr>
        <p:txBody>
          <a:bodyPr wrap="square">
            <a:spAutoFit/>
          </a:bodyPr>
          <a:lstStyle/>
          <a:p>
            <a:pPr algn="l"/>
            <a:r>
              <a:rPr lang="en-US" sz="2400" b="1" i="0" dirty="0">
                <a:solidFill>
                  <a:srgbClr val="222222"/>
                </a:solidFill>
                <a:effectLst/>
                <a:latin typeface="PingFang SC" panose="020B0400000000000000" pitchFamily="34" charset="-122"/>
                <a:ea typeface="PingFang SC" panose="020B0400000000000000" pitchFamily="34" charset="-122"/>
              </a:rPr>
              <a:t>Wi-Fi </a:t>
            </a:r>
            <a:r>
              <a:rPr lang="zh-CN" altLang="en-US" sz="2400" b="1" i="0" dirty="0">
                <a:solidFill>
                  <a:srgbClr val="222222"/>
                </a:solidFill>
                <a:effectLst/>
                <a:latin typeface="PingFang SC" panose="020B0400000000000000" pitchFamily="34" charset="-122"/>
                <a:ea typeface="PingFang SC" panose="020B0400000000000000" pitchFamily="34" charset="-122"/>
              </a:rPr>
              <a:t>站点模式（</a:t>
            </a:r>
            <a:r>
              <a:rPr lang="en-US" sz="2400" b="1" i="0" dirty="0">
                <a:solidFill>
                  <a:srgbClr val="222222"/>
                </a:solidFill>
                <a:effectLst/>
                <a:latin typeface="PingFang SC" panose="020B0400000000000000" pitchFamily="34" charset="-122"/>
                <a:ea typeface="PingFang SC" panose="020B0400000000000000" pitchFamily="34" charset="-122"/>
              </a:rPr>
              <a:t>Station Mode）</a:t>
            </a:r>
            <a:br>
              <a:rPr lang="en-US" sz="2400" b="0" i="0" dirty="0">
                <a:solidFill>
                  <a:srgbClr val="222222"/>
                </a:solidFill>
                <a:effectLst/>
                <a:latin typeface="PingFang SC" panose="020B0400000000000000" pitchFamily="34" charset="-122"/>
                <a:ea typeface="PingFang SC" panose="020B0400000000000000" pitchFamily="34" charset="-122"/>
              </a:rPr>
            </a:br>
            <a:r>
              <a:rPr lang="en-US" altLang="zh-CN" sz="2400" b="0" i="0" dirty="0">
                <a:solidFill>
                  <a:srgbClr val="222222"/>
                </a:solidFill>
                <a:effectLst/>
                <a:latin typeface="PingFang SC" panose="020B0400000000000000" pitchFamily="34" charset="-122"/>
                <a:ea typeface="PingFang SC" panose="020B0400000000000000" pitchFamily="34" charset="-122"/>
              </a:rPr>
              <a:t>ESP32</a:t>
            </a:r>
            <a:r>
              <a:rPr lang="zh-CN" altLang="en-US" sz="2400" b="0" i="0" dirty="0">
                <a:solidFill>
                  <a:srgbClr val="222222"/>
                </a:solidFill>
                <a:effectLst/>
                <a:latin typeface="PingFang SC" panose="020B0400000000000000" pitchFamily="34" charset="-122"/>
                <a:ea typeface="PingFang SC" panose="020B0400000000000000" pitchFamily="34" charset="-122"/>
              </a:rPr>
              <a:t>为站点模式时，是一个普通的客户端（就像你的手机或笔记本电脑一样），可以连接到其他的 </a:t>
            </a:r>
            <a:r>
              <a:rPr lang="en-US" sz="2400" b="0" i="0" dirty="0">
                <a:solidFill>
                  <a:srgbClr val="222222"/>
                </a:solidFill>
                <a:effectLst/>
                <a:latin typeface="PingFang SC" panose="020B0400000000000000" pitchFamily="34" charset="-122"/>
                <a:ea typeface="PingFang SC" panose="020B0400000000000000" pitchFamily="34" charset="-122"/>
              </a:rPr>
              <a:t>Wi-Fi </a:t>
            </a:r>
            <a:r>
              <a:rPr lang="zh-CN" altLang="en-US" sz="2400" b="0" i="0" dirty="0">
                <a:solidFill>
                  <a:srgbClr val="222222"/>
                </a:solidFill>
                <a:effectLst/>
                <a:latin typeface="PingFang SC" panose="020B0400000000000000" pitchFamily="34" charset="-122"/>
                <a:ea typeface="PingFang SC" panose="020B0400000000000000" pitchFamily="34" charset="-122"/>
              </a:rPr>
              <a:t>网络。</a:t>
            </a:r>
            <a:endParaRPr lang="zh-CN" altLang="en-US" sz="2400" b="0" dirty="0">
              <a:solidFill>
                <a:schemeClr val="tx1"/>
              </a:solidFill>
              <a:effectLst/>
              <a:latin typeface="ui-sans-serif"/>
            </a:endParaRPr>
          </a:p>
        </p:txBody>
      </p:sp>
      <p:pic>
        <p:nvPicPr>
          <p:cNvPr id="6146" name="Picture 2">
            <a:extLst>
              <a:ext uri="{FF2B5EF4-FFF2-40B4-BE49-F238E27FC236}">
                <a16:creationId xmlns:a16="http://schemas.microsoft.com/office/drawing/2014/main" id="{605DE144-C4B7-8044-8943-D18B6F7306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4005064"/>
            <a:ext cx="5445697" cy="25526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22009DD-CBA6-BF4C-8001-B56CDCF0DD22}"/>
              </a:ext>
            </a:extLst>
          </p:cNvPr>
          <p:cNvPicPr>
            <a:picLocks noChangeAspect="1"/>
          </p:cNvPicPr>
          <p:nvPr/>
        </p:nvPicPr>
        <p:blipFill rotWithShape="1">
          <a:blip r:embed="rId4"/>
          <a:srcRect r="58163"/>
          <a:stretch/>
        </p:blipFill>
        <p:spPr>
          <a:xfrm>
            <a:off x="5940152" y="1374235"/>
            <a:ext cx="2952328" cy="2190243"/>
          </a:xfrm>
          <a:prstGeom prst="rect">
            <a:avLst/>
          </a:prstGeom>
          <a:ln>
            <a:solidFill>
              <a:srgbClr val="C40000"/>
            </a:solidFill>
          </a:ln>
        </p:spPr>
      </p:pic>
      <p:sp>
        <p:nvSpPr>
          <p:cNvPr id="10" name="TextBox 9">
            <a:extLst>
              <a:ext uri="{FF2B5EF4-FFF2-40B4-BE49-F238E27FC236}">
                <a16:creationId xmlns:a16="http://schemas.microsoft.com/office/drawing/2014/main" id="{AB9B4CEC-7A70-4945-8193-13DE07E41130}"/>
              </a:ext>
            </a:extLst>
          </p:cNvPr>
          <p:cNvSpPr txBox="1"/>
          <p:nvPr/>
        </p:nvSpPr>
        <p:spPr bwMode="auto">
          <a:xfrm>
            <a:off x="3419872" y="845101"/>
            <a:ext cx="4572000" cy="400110"/>
          </a:xfrm>
          <a:prstGeom prst="rect">
            <a:avLst/>
          </a:prstGeom>
          <a:noFill/>
          <a:ln>
            <a:noFill/>
          </a:ln>
        </p:spPr>
        <p:txBody>
          <a:bodyPr wrap="square">
            <a:spAutoFit/>
          </a:bodyPr>
          <a:lstStyle/>
          <a:p>
            <a:pPr algn="l"/>
            <a:r>
              <a:rPr lang="zh-CN" altLang="en-US" sz="2000" b="0" i="0" dirty="0">
                <a:solidFill>
                  <a:srgbClr val="222222"/>
                </a:solidFill>
                <a:effectLst/>
                <a:latin typeface="PingFang SC" panose="020B0400000000000000" pitchFamily="34" charset="-122"/>
                <a:ea typeface="PingFang SC" panose="020B0400000000000000" pitchFamily="34" charset="-122"/>
              </a:rPr>
              <a:t>将 </a:t>
            </a:r>
            <a:r>
              <a:rPr lang="en-US" sz="2000" b="0" i="0" dirty="0">
                <a:solidFill>
                  <a:srgbClr val="222222"/>
                </a:solidFill>
                <a:effectLst/>
                <a:latin typeface="PingFang SC" panose="020B0400000000000000" pitchFamily="34" charset="-122"/>
                <a:ea typeface="PingFang SC" panose="020B0400000000000000" pitchFamily="34" charset="-122"/>
              </a:rPr>
              <a:t>ESP32 </a:t>
            </a:r>
            <a:r>
              <a:rPr lang="zh-CN" altLang="en-US" sz="2000" b="0" i="0" dirty="0">
                <a:solidFill>
                  <a:srgbClr val="222222"/>
                </a:solidFill>
                <a:effectLst/>
                <a:latin typeface="PingFang SC" panose="020B0400000000000000" pitchFamily="34" charset="-122"/>
                <a:ea typeface="PingFang SC" panose="020B0400000000000000" pitchFamily="34" charset="-122"/>
              </a:rPr>
              <a:t>设置为 </a:t>
            </a:r>
            <a:r>
              <a:rPr lang="en-US" sz="2000" b="0" i="0" dirty="0">
                <a:solidFill>
                  <a:srgbClr val="222222"/>
                </a:solidFill>
                <a:effectLst/>
                <a:latin typeface="PingFang SC" panose="020B0400000000000000" pitchFamily="34" charset="-122"/>
                <a:ea typeface="PingFang SC" panose="020B0400000000000000" pitchFamily="34" charset="-122"/>
              </a:rPr>
              <a:t>WIFI_STA </a:t>
            </a:r>
            <a:r>
              <a:rPr lang="zh-CN" altLang="en-US" sz="2000" b="0" i="0" dirty="0">
                <a:solidFill>
                  <a:srgbClr val="222222"/>
                </a:solidFill>
                <a:effectLst/>
                <a:latin typeface="PingFang SC" panose="020B0400000000000000" pitchFamily="34" charset="-122"/>
                <a:ea typeface="PingFang SC" panose="020B0400000000000000" pitchFamily="34" charset="-122"/>
              </a:rPr>
              <a:t>模式</a:t>
            </a:r>
            <a:endParaRPr lang="en-US" altLang="zh-CN" sz="2000" b="0" i="0" dirty="0">
              <a:solidFill>
                <a:srgbClr val="222222"/>
              </a:solidFill>
              <a:effectLst/>
              <a:latin typeface="PingFang SC" panose="020B0400000000000000" pitchFamily="34" charset="-122"/>
              <a:ea typeface="PingFang SC" panose="020B0400000000000000" pitchFamily="34" charset="-122"/>
            </a:endParaRPr>
          </a:p>
        </p:txBody>
      </p:sp>
      <p:cxnSp>
        <p:nvCxnSpPr>
          <p:cNvPr id="6" name="Straight Arrow Connector 5">
            <a:extLst>
              <a:ext uri="{FF2B5EF4-FFF2-40B4-BE49-F238E27FC236}">
                <a16:creationId xmlns:a16="http://schemas.microsoft.com/office/drawing/2014/main" id="{AAC2500D-44D5-CF4F-A8B9-80FD6A52C878}"/>
              </a:ext>
            </a:extLst>
          </p:cNvPr>
          <p:cNvCxnSpPr/>
          <p:nvPr/>
        </p:nvCxnSpPr>
        <p:spPr bwMode="auto">
          <a:xfrm>
            <a:off x="5436096" y="1268760"/>
            <a:ext cx="864096" cy="1200596"/>
          </a:xfrm>
          <a:prstGeom prst="straightConnector1">
            <a:avLst/>
          </a:prstGeom>
          <a:solidFill>
            <a:srgbClr val="00B8FF"/>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62261602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txBox="1">
            <a:spLocks noChangeArrowheads="1"/>
          </p:cNvSpPr>
          <p:nvPr/>
        </p:nvSpPr>
        <p:spPr bwMode="auto">
          <a:xfrm>
            <a:off x="457200" y="290167"/>
            <a:ext cx="8229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黑体" panose="0201060906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黑体" panose="0201060906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黑体" panose="0201060906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9pPr>
          </a:lstStyle>
          <a:p>
            <a:pPr>
              <a:spcBef>
                <a:spcPct val="0"/>
              </a:spcBef>
              <a:buClrTx/>
              <a:buSzTx/>
              <a:buFontTx/>
              <a:buNone/>
            </a:pPr>
            <a:r>
              <a:rPr lang="zh-CN" altLang="en-US" sz="3500" dirty="0">
                <a:latin typeface="+mj-lt"/>
                <a:ea typeface="+mn-ea"/>
                <a:cs typeface="Times"/>
              </a:rPr>
              <a:t>位置定位</a:t>
            </a:r>
            <a:endParaRPr lang="en-US" altLang="zh-CN" sz="3500" dirty="0">
              <a:latin typeface="+mj-lt"/>
              <a:ea typeface="+mn-ea"/>
              <a:cs typeface="Times"/>
            </a:endParaRPr>
          </a:p>
        </p:txBody>
      </p:sp>
      <p:sp>
        <p:nvSpPr>
          <p:cNvPr id="7" name="文本框 6"/>
          <p:cNvSpPr txBox="1"/>
          <p:nvPr/>
        </p:nvSpPr>
        <p:spPr bwMode="auto">
          <a:xfrm>
            <a:off x="550863" y="82550"/>
            <a:ext cx="723900" cy="583565"/>
          </a:xfrm>
          <a:prstGeom prst="rect">
            <a:avLst/>
          </a:prstGeom>
          <a:noFill/>
        </p:spPr>
        <p:txBody>
          <a:bodyPr>
            <a:spAutoFit/>
          </a:bodyPr>
          <a:lstStyle/>
          <a:p>
            <a:pPr algn="ctr" eaLnBrk="1" fontAlgn="auto" hangingPunct="1">
              <a:spcBef>
                <a:spcPts val="0"/>
              </a:spcBef>
              <a:spcAft>
                <a:spcPts val="0"/>
              </a:spcAft>
              <a:defRPr/>
            </a:pPr>
            <a:endParaRPr lang="zh-CN" altLang="en-US" sz="3200" dirty="0">
              <a:solidFill>
                <a:schemeClr val="bg2">
                  <a:lumMod val="25000"/>
                </a:schemeClr>
              </a:solidFill>
              <a:latin typeface="+mj-lt"/>
              <a:ea typeface="+mn-ea"/>
            </a:endParaRPr>
          </a:p>
        </p:txBody>
      </p:sp>
      <p:sp>
        <p:nvSpPr>
          <p:cNvPr id="15" name="文本框 11">
            <a:extLst>
              <a:ext uri="{FF2B5EF4-FFF2-40B4-BE49-F238E27FC236}">
                <a16:creationId xmlns:a16="http://schemas.microsoft.com/office/drawing/2014/main" id="{85C211C9-F1B3-8D4F-BF94-30C5E4D3A9EE}"/>
              </a:ext>
            </a:extLst>
          </p:cNvPr>
          <p:cNvSpPr txBox="1"/>
          <p:nvPr/>
        </p:nvSpPr>
        <p:spPr>
          <a:xfrm>
            <a:off x="3196742" y="5737899"/>
            <a:ext cx="5062819" cy="87421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zh-CN" dirty="0"/>
              <a:t>在线定位阶段的目的是</a:t>
            </a:r>
            <a:r>
              <a:rPr lang="zh-CN" altLang="en-US" dirty="0"/>
              <a:t>通过指纹匹配算法</a:t>
            </a:r>
            <a:r>
              <a:rPr lang="zh-CN" altLang="zh-CN" dirty="0"/>
              <a:t>得到移动终端设备的最终位置信息</a:t>
            </a:r>
            <a:endParaRPr lang="en-US" altLang="zh-CN" dirty="0">
              <a:latin typeface="+mj-lt"/>
            </a:endParaRPr>
          </a:p>
        </p:txBody>
      </p:sp>
      <p:pic>
        <p:nvPicPr>
          <p:cNvPr id="3076" name="Picture 4" descr="一种室内定位系统中的特征指纹库构建方法与流程">
            <a:extLst>
              <a:ext uri="{FF2B5EF4-FFF2-40B4-BE49-F238E27FC236}">
                <a16:creationId xmlns:a16="http://schemas.microsoft.com/office/drawing/2014/main" id="{E0D50E3B-1B00-0B4D-94BB-88D9820E5E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147152"/>
            <a:ext cx="8534400" cy="34925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2AC8AE2-B88A-4543-AB01-374F5586875A}"/>
              </a:ext>
            </a:extLst>
          </p:cNvPr>
          <p:cNvSpPr txBox="1"/>
          <p:nvPr/>
        </p:nvSpPr>
        <p:spPr bwMode="auto">
          <a:xfrm>
            <a:off x="457200" y="1036843"/>
            <a:ext cx="4572000" cy="523220"/>
          </a:xfrm>
          <a:prstGeom prst="rect">
            <a:avLst/>
          </a:prstGeom>
          <a:noFill/>
          <a:ln>
            <a:noFill/>
          </a:ln>
        </p:spPr>
        <p:txBody>
          <a:bodyPr wrap="square">
            <a:spAutoFit/>
          </a:bodyPr>
          <a:lstStyle/>
          <a:p>
            <a:r>
              <a:rPr lang="zh-CN" altLang="en-US" sz="2800" dirty="0">
                <a:solidFill>
                  <a:srgbClr val="C00000"/>
                </a:solidFill>
                <a:latin typeface="+mj-lt"/>
                <a:ea typeface="+mn-ea"/>
                <a:cs typeface="Times"/>
              </a:rPr>
              <a:t>基于位置指纹方法</a:t>
            </a:r>
            <a:endParaRPr lang="en-CN" sz="2800" dirty="0">
              <a:solidFill>
                <a:srgbClr val="C00000"/>
              </a:solidFill>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A90D240D-73EF-5D44-93EB-2DD75EDF0E8C}"/>
                  </a:ext>
                </a:extLst>
              </p:cNvPr>
              <p:cNvSpPr txBox="1"/>
              <p:nvPr/>
            </p:nvSpPr>
            <p:spPr bwMode="auto">
              <a:xfrm>
                <a:off x="2339752" y="2046773"/>
                <a:ext cx="5288225" cy="1045607"/>
              </a:xfrm>
              <a:prstGeom prst="rect">
                <a:avLst/>
              </a:prstGeom>
              <a:noFill/>
              <a:ln>
                <a:solidFill>
                  <a:srgbClr val="C00000"/>
                </a:solidFill>
              </a:ln>
            </p:spPr>
            <p:txBody>
              <a:bodyPr wrap="square">
                <a:spAutoFit/>
              </a:bodyPr>
              <a:lstStyle/>
              <a:p>
                <a:pPr algn="l"/>
                <a:r>
                  <a:rPr lang="zh-CN" altLang="en-US" b="1" dirty="0">
                    <a:solidFill>
                      <a:srgbClr val="000000"/>
                    </a:solidFill>
                    <a:effectLst/>
                    <a:latin typeface="ui-sans-serif"/>
                  </a:rPr>
                  <a:t>位置指纹多个 </a:t>
                </a:r>
                <a:r>
                  <a:rPr lang="en-US" b="1" dirty="0" err="1">
                    <a:solidFill>
                      <a:srgbClr val="000000"/>
                    </a:solidFill>
                    <a:effectLst/>
                    <a:latin typeface="ui-sans-serif"/>
                  </a:rPr>
                  <a:t>WiFi</a:t>
                </a:r>
                <a:r>
                  <a:rPr lang="en-US" b="1" dirty="0">
                    <a:solidFill>
                      <a:srgbClr val="000000"/>
                    </a:solidFill>
                    <a:effectLst/>
                    <a:latin typeface="ui-sans-serif"/>
                  </a:rPr>
                  <a:t> AP </a:t>
                </a:r>
                <a:r>
                  <a:rPr lang="zh-CN" altLang="en-US" b="1" dirty="0">
                    <a:solidFill>
                      <a:srgbClr val="000000"/>
                    </a:solidFill>
                    <a:effectLst/>
                    <a:latin typeface="ui-sans-serif"/>
                  </a:rPr>
                  <a:t>的 </a:t>
                </a:r>
                <a:r>
                  <a:rPr lang="en-US" b="1" dirty="0">
                    <a:solidFill>
                      <a:srgbClr val="000000"/>
                    </a:solidFill>
                    <a:effectLst/>
                    <a:latin typeface="ui-sans-serif"/>
                  </a:rPr>
                  <a:t>RSSI </a:t>
                </a:r>
                <a:r>
                  <a:rPr lang="zh-CN" altLang="en-US" b="1" dirty="0">
                    <a:solidFill>
                      <a:srgbClr val="000000"/>
                    </a:solidFill>
                    <a:effectLst/>
                    <a:latin typeface="ui-sans-serif"/>
                  </a:rPr>
                  <a:t>序列</a:t>
                </a:r>
                <a:endParaRPr lang="zh-CN" altLang="en-US" b="0" dirty="0">
                  <a:solidFill>
                    <a:srgbClr val="000000"/>
                  </a:solidFill>
                  <a:effectLst/>
                  <a:latin typeface="ui-sans-serif"/>
                </a:endParaRPr>
              </a:p>
              <a:p>
                <a:pPr algn="l"/>
                <a14:m>
                  <m:oMath xmlns:m="http://schemas.openxmlformats.org/officeDocument/2006/math">
                    <m:r>
                      <a:rPr lang="en-US" b="0" i="1" dirty="0" smtClean="0">
                        <a:solidFill>
                          <a:srgbClr val="000000"/>
                        </a:solidFill>
                        <a:effectLst/>
                        <a:latin typeface="Cambria Math" panose="02040503050406030204" pitchFamily="18" charset="0"/>
                      </a:rPr>
                      <m:t>𝐹𝑖𝑛𝑔𝑒𝑟𝑝𝑟𝑖𝑛𝑡</m:t>
                    </m:r>
                    <m:r>
                      <a:rPr lang="en-US" b="0" i="1" dirty="0" smtClean="0">
                        <a:solidFill>
                          <a:srgbClr val="000000"/>
                        </a:solidFill>
                        <a:effectLst/>
                        <a:latin typeface="Cambria Math" panose="02040503050406030204" pitchFamily="18" charset="0"/>
                      </a:rPr>
                      <m:t>=[</m:t>
                    </m:r>
                    <m:r>
                      <a:rPr lang="en-US" b="0" i="1" dirty="0" smtClean="0">
                        <a:solidFill>
                          <a:srgbClr val="000000"/>
                        </a:solidFill>
                        <a:effectLst/>
                        <a:latin typeface="Cambria Math" panose="02040503050406030204" pitchFamily="18" charset="0"/>
                      </a:rPr>
                      <m:t>𝑅𝑆𝑆</m:t>
                    </m:r>
                    <m:sSub>
                      <m:sSubPr>
                        <m:ctrlPr>
                          <a:rPr lang="en-US" b="0" i="1" dirty="0" smtClean="0">
                            <a:solidFill>
                              <a:srgbClr val="000000"/>
                            </a:solidFill>
                            <a:effectLst/>
                            <a:latin typeface="Cambria Math" panose="02040503050406030204" pitchFamily="18" charset="0"/>
                          </a:rPr>
                        </m:ctrlPr>
                      </m:sSubPr>
                      <m:e>
                        <m:r>
                          <a:rPr lang="en-US" b="0" i="1" dirty="0" smtClean="0">
                            <a:solidFill>
                              <a:srgbClr val="000000"/>
                            </a:solidFill>
                            <a:effectLst/>
                            <a:latin typeface="Cambria Math" panose="02040503050406030204" pitchFamily="18" charset="0"/>
                          </a:rPr>
                          <m:t>𝐼</m:t>
                        </m:r>
                      </m:e>
                      <m:sub>
                        <m:r>
                          <a:rPr lang="en-US" b="0" i="1" dirty="0" smtClean="0">
                            <a:solidFill>
                              <a:srgbClr val="000000"/>
                            </a:solidFill>
                            <a:effectLst/>
                            <a:latin typeface="Cambria Math" panose="02040503050406030204" pitchFamily="18" charset="0"/>
                          </a:rPr>
                          <m:t>𝑖</m:t>
                        </m:r>
                        <m:r>
                          <a:rPr lang="en-US" b="0" i="1" dirty="0" smtClean="0">
                            <a:solidFill>
                              <a:srgbClr val="000000"/>
                            </a:solidFill>
                            <a:effectLst/>
                            <a:latin typeface="Cambria Math" panose="02040503050406030204" pitchFamily="18" charset="0"/>
                          </a:rPr>
                          <m:t>1</m:t>
                        </m:r>
                      </m:sub>
                    </m:sSub>
                    <m:r>
                      <a:rPr lang="en-US" b="0" i="1" dirty="0" smtClean="0">
                        <a:solidFill>
                          <a:srgbClr val="000000"/>
                        </a:solidFill>
                        <a:effectLst/>
                        <a:latin typeface="Cambria Math" panose="02040503050406030204" pitchFamily="18" charset="0"/>
                      </a:rPr>
                      <m:t>​</m:t>
                    </m:r>
                    <m:r>
                      <a:rPr lang="en-US" b="0" i="1" dirty="0" smtClean="0">
                        <a:solidFill>
                          <a:srgbClr val="000000"/>
                        </a:solidFill>
                        <a:effectLst/>
                        <a:latin typeface="Cambria Math" panose="02040503050406030204" pitchFamily="18" charset="0"/>
                      </a:rPr>
                      <m:t>,</m:t>
                    </m:r>
                    <m:r>
                      <a:rPr lang="en-US" b="0" i="1" dirty="0" smtClean="0">
                        <a:solidFill>
                          <a:srgbClr val="000000"/>
                        </a:solidFill>
                        <a:effectLst/>
                        <a:latin typeface="Cambria Math" panose="02040503050406030204" pitchFamily="18" charset="0"/>
                      </a:rPr>
                      <m:t>𝑅𝑆𝑆</m:t>
                    </m:r>
                    <m:sSub>
                      <m:sSubPr>
                        <m:ctrlPr>
                          <a:rPr lang="en-US" b="0" i="1" dirty="0" smtClean="0">
                            <a:solidFill>
                              <a:srgbClr val="000000"/>
                            </a:solidFill>
                            <a:effectLst/>
                            <a:latin typeface="Cambria Math" panose="02040503050406030204" pitchFamily="18" charset="0"/>
                          </a:rPr>
                        </m:ctrlPr>
                      </m:sSubPr>
                      <m:e>
                        <m:r>
                          <a:rPr lang="en-US" b="0" i="1" dirty="0" smtClean="0">
                            <a:solidFill>
                              <a:srgbClr val="000000"/>
                            </a:solidFill>
                            <a:effectLst/>
                            <a:latin typeface="Cambria Math" panose="02040503050406030204" pitchFamily="18" charset="0"/>
                          </a:rPr>
                          <m:t>𝐼</m:t>
                        </m:r>
                      </m:e>
                      <m:sub>
                        <m:r>
                          <a:rPr lang="en-US" b="0" i="1" dirty="0" smtClean="0">
                            <a:solidFill>
                              <a:srgbClr val="000000"/>
                            </a:solidFill>
                            <a:effectLst/>
                            <a:latin typeface="Cambria Math" panose="02040503050406030204" pitchFamily="18" charset="0"/>
                          </a:rPr>
                          <m:t>𝑖</m:t>
                        </m:r>
                        <m:r>
                          <a:rPr lang="en-US" b="0" i="1" dirty="0" smtClean="0">
                            <a:solidFill>
                              <a:srgbClr val="000000"/>
                            </a:solidFill>
                            <a:effectLst/>
                            <a:latin typeface="Cambria Math" panose="02040503050406030204" pitchFamily="18" charset="0"/>
                          </a:rPr>
                          <m:t>2</m:t>
                        </m:r>
                      </m:sub>
                    </m:sSub>
                    <m:r>
                      <a:rPr lang="en-US" b="0" i="1" dirty="0" smtClean="0">
                        <a:solidFill>
                          <a:srgbClr val="000000"/>
                        </a:solidFill>
                        <a:effectLst/>
                        <a:latin typeface="Cambria Math" panose="02040503050406030204" pitchFamily="18" charset="0"/>
                      </a:rPr>
                      <m:t>​</m:t>
                    </m:r>
                    <m:r>
                      <a:rPr lang="en-US" b="0" i="1" dirty="0" smtClean="0">
                        <a:solidFill>
                          <a:srgbClr val="000000"/>
                        </a:solidFill>
                        <a:effectLst/>
                        <a:latin typeface="Cambria Math" panose="02040503050406030204" pitchFamily="18" charset="0"/>
                      </a:rPr>
                      <m:t>, </m:t>
                    </m:r>
                    <m:r>
                      <a:rPr lang="en-US" b="0" i="1" dirty="0" err="1">
                        <a:solidFill>
                          <a:srgbClr val="000000"/>
                        </a:solidFill>
                        <a:effectLst/>
                        <a:latin typeface="Cambria Math" panose="02040503050406030204" pitchFamily="18" charset="0"/>
                      </a:rPr>
                      <m:t>𝑅𝑆𝑆</m:t>
                    </m:r>
                    <m:sSub>
                      <m:sSubPr>
                        <m:ctrlPr>
                          <a:rPr lang="en-US" b="0" i="1" dirty="0" smtClean="0">
                            <a:solidFill>
                              <a:srgbClr val="000000"/>
                            </a:solidFill>
                            <a:effectLst/>
                            <a:latin typeface="Cambria Math" panose="02040503050406030204" pitchFamily="18" charset="0"/>
                          </a:rPr>
                        </m:ctrlPr>
                      </m:sSubPr>
                      <m:e>
                        <m:r>
                          <a:rPr lang="en-US" b="0" i="1" dirty="0" smtClean="0">
                            <a:solidFill>
                              <a:srgbClr val="000000"/>
                            </a:solidFill>
                            <a:effectLst/>
                            <a:latin typeface="Cambria Math" panose="02040503050406030204" pitchFamily="18" charset="0"/>
                          </a:rPr>
                          <m:t>𝐼</m:t>
                        </m:r>
                      </m:e>
                      <m:sub>
                        <m:r>
                          <a:rPr lang="en-US" b="0" i="1" dirty="0" smtClean="0">
                            <a:solidFill>
                              <a:srgbClr val="000000"/>
                            </a:solidFill>
                            <a:effectLst/>
                            <a:latin typeface="Cambria Math" panose="02040503050406030204" pitchFamily="18" charset="0"/>
                          </a:rPr>
                          <m:t>𝑖</m:t>
                        </m:r>
                        <m:r>
                          <a:rPr lang="en-US" b="0" i="1" dirty="0" smtClean="0">
                            <a:solidFill>
                              <a:srgbClr val="000000"/>
                            </a:solidFill>
                            <a:effectLst/>
                            <a:latin typeface="Cambria Math" panose="02040503050406030204" pitchFamily="18" charset="0"/>
                          </a:rPr>
                          <m:t>3</m:t>
                        </m:r>
                      </m:sub>
                    </m:sSub>
                    <m:r>
                      <a:rPr lang="en-US" b="0" i="1" dirty="0">
                        <a:solidFill>
                          <a:srgbClr val="000000"/>
                        </a:solidFill>
                        <a:effectLst/>
                        <a:latin typeface="Cambria Math" panose="02040503050406030204" pitchFamily="18" charset="0"/>
                      </a:rPr>
                      <m:t>​</m:t>
                    </m:r>
                    <m:r>
                      <a:rPr lang="en-US" b="0" i="1" dirty="0" smtClean="0">
                        <a:solidFill>
                          <a:srgbClr val="000000"/>
                        </a:solidFill>
                        <a:effectLst/>
                        <a:latin typeface="Cambria Math" panose="02040503050406030204" pitchFamily="18" charset="0"/>
                      </a:rPr>
                      <m:t>]</m:t>
                    </m:r>
                  </m:oMath>
                </a14:m>
                <a:r>
                  <a:rPr lang="zh-CN" altLang="en-US" dirty="0"/>
                  <a:t>强度向量当作该位置的 “指纹”。</a:t>
                </a:r>
                <a:endParaRPr lang="en-CN" dirty="0"/>
              </a:p>
            </p:txBody>
          </p:sp>
        </mc:Choice>
        <mc:Fallback>
          <p:sp>
            <p:nvSpPr>
              <p:cNvPr id="14" name="TextBox 13">
                <a:extLst>
                  <a:ext uri="{FF2B5EF4-FFF2-40B4-BE49-F238E27FC236}">
                    <a16:creationId xmlns:a16="http://schemas.microsoft.com/office/drawing/2014/main" id="{A90D240D-73EF-5D44-93EB-2DD75EDF0E8C}"/>
                  </a:ext>
                </a:extLst>
              </p:cNvPr>
              <p:cNvSpPr txBox="1">
                <a:spLocks noRot="1" noChangeAspect="1" noMove="1" noResize="1" noEditPoints="1" noAdjustHandles="1" noChangeArrowheads="1" noChangeShapeType="1" noTextEdit="1"/>
              </p:cNvSpPr>
              <p:nvPr/>
            </p:nvSpPr>
            <p:spPr bwMode="auto">
              <a:xfrm>
                <a:off x="2339752" y="2046773"/>
                <a:ext cx="5288225" cy="1045607"/>
              </a:xfrm>
              <a:prstGeom prst="rect">
                <a:avLst/>
              </a:prstGeom>
              <a:blipFill>
                <a:blip r:embed="rId4"/>
                <a:stretch>
                  <a:fillRect l="-957" t="-2381" b="-7143"/>
                </a:stretch>
              </a:blipFill>
              <a:ln>
                <a:solidFill>
                  <a:srgbClr val="C00000"/>
                </a:solidFill>
              </a:ln>
            </p:spPr>
            <p:txBody>
              <a:bodyPr/>
              <a:lstStyle/>
              <a:p>
                <a:r>
                  <a:rPr lang="en-CN">
                    <a:noFill/>
                  </a:rPr>
                  <a:t> </a:t>
                </a:r>
              </a:p>
            </p:txBody>
          </p:sp>
        </mc:Fallback>
      </mc:AlternateContent>
      <p:sp>
        <p:nvSpPr>
          <p:cNvPr id="17" name="Rounded Rectangle 16">
            <a:extLst>
              <a:ext uri="{FF2B5EF4-FFF2-40B4-BE49-F238E27FC236}">
                <a16:creationId xmlns:a16="http://schemas.microsoft.com/office/drawing/2014/main" id="{3596643D-1131-7348-AC8F-40211CEA32A9}"/>
              </a:ext>
            </a:extLst>
          </p:cNvPr>
          <p:cNvSpPr/>
          <p:nvPr/>
        </p:nvSpPr>
        <p:spPr>
          <a:xfrm>
            <a:off x="359602" y="3131952"/>
            <a:ext cx="3564326" cy="2241263"/>
          </a:xfrm>
          <a:prstGeom prst="roundRect">
            <a:avLst/>
          </a:prstGeom>
          <a:solidFill>
            <a:srgbClr val="FF0000">
              <a:alpha val="20000"/>
            </a:srgbClr>
          </a:solidFill>
        </p:spPr>
        <p:txBody>
          <a:bodyPr wrap="square" rtlCol="0" anchor="ctr">
            <a:spAutoFit/>
          </a:bodyPr>
          <a:lstStyle/>
          <a:p>
            <a:pPr algn="ctr"/>
            <a:endParaRPr lang="en-CN" dirty="0">
              <a:solidFill>
                <a:srgbClr val="C00000"/>
              </a:solidFill>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17031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txBox="1">
            <a:spLocks noChangeArrowheads="1"/>
          </p:cNvSpPr>
          <p:nvPr/>
        </p:nvSpPr>
        <p:spPr bwMode="auto">
          <a:xfrm>
            <a:off x="457200" y="290167"/>
            <a:ext cx="8229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黑体" panose="0201060906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黑体" panose="0201060906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黑体" panose="0201060906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9pPr>
          </a:lstStyle>
          <a:p>
            <a:pPr>
              <a:spcBef>
                <a:spcPct val="0"/>
              </a:spcBef>
              <a:buClrTx/>
              <a:buSzTx/>
              <a:buFontTx/>
              <a:buNone/>
            </a:pPr>
            <a:r>
              <a:rPr lang="zh-CN" altLang="en-US" sz="3500" dirty="0">
                <a:latin typeface="+mj-lt"/>
                <a:ea typeface="+mn-ea"/>
                <a:cs typeface="Times"/>
              </a:rPr>
              <a:t>位置定位</a:t>
            </a:r>
            <a:endParaRPr lang="en-US" altLang="zh-CN" sz="3500" dirty="0">
              <a:latin typeface="+mj-lt"/>
              <a:ea typeface="+mn-ea"/>
              <a:cs typeface="Times"/>
            </a:endParaRPr>
          </a:p>
        </p:txBody>
      </p:sp>
      <p:sp>
        <p:nvSpPr>
          <p:cNvPr id="7" name="文本框 6"/>
          <p:cNvSpPr txBox="1"/>
          <p:nvPr/>
        </p:nvSpPr>
        <p:spPr bwMode="auto">
          <a:xfrm>
            <a:off x="550863" y="82550"/>
            <a:ext cx="723900" cy="583565"/>
          </a:xfrm>
          <a:prstGeom prst="rect">
            <a:avLst/>
          </a:prstGeom>
          <a:noFill/>
        </p:spPr>
        <p:txBody>
          <a:bodyPr>
            <a:spAutoFit/>
          </a:bodyPr>
          <a:lstStyle/>
          <a:p>
            <a:pPr algn="ctr" eaLnBrk="1" fontAlgn="auto" hangingPunct="1">
              <a:spcBef>
                <a:spcPts val="0"/>
              </a:spcBef>
              <a:spcAft>
                <a:spcPts val="0"/>
              </a:spcAft>
              <a:defRPr/>
            </a:pPr>
            <a:endParaRPr lang="zh-CN" altLang="en-US" sz="3200" dirty="0">
              <a:solidFill>
                <a:schemeClr val="bg2">
                  <a:lumMod val="25000"/>
                </a:schemeClr>
              </a:solidFill>
              <a:latin typeface="+mj-lt"/>
              <a:ea typeface="+mn-ea"/>
            </a:endParaRPr>
          </a:p>
        </p:txBody>
      </p:sp>
      <p:sp>
        <p:nvSpPr>
          <p:cNvPr id="12" name="文本框 11"/>
          <p:cNvSpPr txBox="1"/>
          <p:nvPr/>
        </p:nvSpPr>
        <p:spPr>
          <a:xfrm>
            <a:off x="2627784" y="1714359"/>
            <a:ext cx="6259512" cy="1422312"/>
          </a:xfrm>
          <a:prstGeom prst="rect">
            <a:avLst/>
          </a:prstGeom>
          <a:noFill/>
          <a:ln>
            <a:solidFill>
              <a:srgbClr val="C00000"/>
            </a:solidFill>
          </a:ln>
        </p:spPr>
        <p:txBody>
          <a:bodyPr wrap="square" rtlCol="0">
            <a:spAutoFit/>
          </a:bodyPr>
          <a:lstStyle/>
          <a:p>
            <a:pPr marL="285750" indent="-285750">
              <a:lnSpc>
                <a:spcPct val="150000"/>
              </a:lnSpc>
              <a:buFont typeface="Arial" panose="020B0604020202020204" pitchFamily="34" charset="0"/>
              <a:buChar char="•"/>
            </a:pPr>
            <a:r>
              <a:rPr lang="zh-CN" altLang="en-US" dirty="0">
                <a:solidFill>
                  <a:schemeClr val="tx1"/>
                </a:solidFill>
              </a:rPr>
              <a:t>离线训练阶段的主要目的是建立一个能够全面表达目标区域各个位置</a:t>
            </a:r>
            <a:r>
              <a:rPr lang="en-US" altLang="zh-CN" dirty="0">
                <a:solidFill>
                  <a:schemeClr val="tx1"/>
                </a:solidFill>
              </a:rPr>
              <a:t>Wi-Fi</a:t>
            </a:r>
            <a:r>
              <a:rPr lang="zh-CN" altLang="en-US" dirty="0">
                <a:solidFill>
                  <a:schemeClr val="tx1"/>
                </a:solidFill>
              </a:rPr>
              <a:t>信号</a:t>
            </a:r>
            <a:r>
              <a:rPr lang="en-US" altLang="zh-CN" dirty="0">
                <a:solidFill>
                  <a:schemeClr val="tx1"/>
                </a:solidFill>
              </a:rPr>
              <a:t>RSSI</a:t>
            </a:r>
            <a:r>
              <a:rPr lang="zh-CN" altLang="en-US" dirty="0">
                <a:solidFill>
                  <a:schemeClr val="tx1"/>
                </a:solidFill>
              </a:rPr>
              <a:t>特征的位置指纹数据库</a:t>
            </a:r>
            <a:endParaRPr lang="en-US" altLang="zh-CN" dirty="0">
              <a:solidFill>
                <a:schemeClr val="tx1"/>
              </a:solidFill>
              <a:latin typeface="+mj-lt"/>
            </a:endParaRPr>
          </a:p>
        </p:txBody>
      </p:sp>
      <p:sp>
        <p:nvSpPr>
          <p:cNvPr id="15" name="文本框 11">
            <a:extLst>
              <a:ext uri="{FF2B5EF4-FFF2-40B4-BE49-F238E27FC236}">
                <a16:creationId xmlns:a16="http://schemas.microsoft.com/office/drawing/2014/main" id="{85C211C9-F1B3-8D4F-BF94-30C5E4D3A9EE}"/>
              </a:ext>
            </a:extLst>
          </p:cNvPr>
          <p:cNvSpPr txBox="1"/>
          <p:nvPr/>
        </p:nvSpPr>
        <p:spPr>
          <a:xfrm>
            <a:off x="3196742" y="5737899"/>
            <a:ext cx="5062819" cy="87421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zh-CN" dirty="0"/>
              <a:t>在线定位阶段的目的是</a:t>
            </a:r>
            <a:r>
              <a:rPr lang="zh-CN" altLang="en-US" dirty="0"/>
              <a:t>通过指纹匹配算法</a:t>
            </a:r>
            <a:r>
              <a:rPr lang="zh-CN" altLang="zh-CN" dirty="0"/>
              <a:t>得到移动终端设备的最终位置信息</a:t>
            </a:r>
            <a:endParaRPr lang="en-US" altLang="zh-CN" dirty="0">
              <a:latin typeface="+mj-lt"/>
            </a:endParaRPr>
          </a:p>
        </p:txBody>
      </p:sp>
      <p:pic>
        <p:nvPicPr>
          <p:cNvPr id="3076" name="Picture 4" descr="一种室内定位系统中的特征指纹库构建方法与流程">
            <a:extLst>
              <a:ext uri="{FF2B5EF4-FFF2-40B4-BE49-F238E27FC236}">
                <a16:creationId xmlns:a16="http://schemas.microsoft.com/office/drawing/2014/main" id="{E0D50E3B-1B00-0B4D-94BB-88D9820E5E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147152"/>
            <a:ext cx="8534400" cy="34925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2AC8AE2-B88A-4543-AB01-374F5586875A}"/>
              </a:ext>
            </a:extLst>
          </p:cNvPr>
          <p:cNvSpPr txBox="1"/>
          <p:nvPr/>
        </p:nvSpPr>
        <p:spPr bwMode="auto">
          <a:xfrm>
            <a:off x="457200" y="1036843"/>
            <a:ext cx="4572000" cy="523220"/>
          </a:xfrm>
          <a:prstGeom prst="rect">
            <a:avLst/>
          </a:prstGeom>
          <a:noFill/>
          <a:ln>
            <a:noFill/>
          </a:ln>
        </p:spPr>
        <p:txBody>
          <a:bodyPr wrap="square">
            <a:spAutoFit/>
          </a:bodyPr>
          <a:lstStyle/>
          <a:p>
            <a:r>
              <a:rPr lang="zh-CN" altLang="en-US" sz="2800" dirty="0">
                <a:solidFill>
                  <a:srgbClr val="C00000"/>
                </a:solidFill>
                <a:latin typeface="+mj-lt"/>
                <a:ea typeface="+mn-ea"/>
                <a:cs typeface="Times"/>
              </a:rPr>
              <a:t>基于位置指纹的方法</a:t>
            </a:r>
            <a:endParaRPr lang="en-CN" sz="2800" dirty="0">
              <a:solidFill>
                <a:srgbClr val="C00000"/>
              </a:solidFill>
            </a:endParaRPr>
          </a:p>
        </p:txBody>
      </p:sp>
      <p:sp>
        <p:nvSpPr>
          <p:cNvPr id="17" name="Rounded Rectangle 16">
            <a:extLst>
              <a:ext uri="{FF2B5EF4-FFF2-40B4-BE49-F238E27FC236}">
                <a16:creationId xmlns:a16="http://schemas.microsoft.com/office/drawing/2014/main" id="{D42520BC-9543-AA46-8349-A1781B686E9A}"/>
              </a:ext>
            </a:extLst>
          </p:cNvPr>
          <p:cNvSpPr/>
          <p:nvPr/>
        </p:nvSpPr>
        <p:spPr>
          <a:xfrm>
            <a:off x="4427984" y="3573016"/>
            <a:ext cx="4258816" cy="1440160"/>
          </a:xfrm>
          <a:prstGeom prst="roundRect">
            <a:avLst/>
          </a:prstGeom>
          <a:solidFill>
            <a:srgbClr val="FF0000">
              <a:alpha val="20000"/>
            </a:srgbClr>
          </a:solidFill>
        </p:spPr>
        <p:txBody>
          <a:bodyPr wrap="square" rtlCol="0" anchor="ctr">
            <a:spAutoFit/>
          </a:bodyPr>
          <a:lstStyle/>
          <a:p>
            <a:pPr algn="ctr"/>
            <a:endParaRPr lang="en-CN" dirty="0">
              <a:solidFill>
                <a:srgbClr val="C00000"/>
              </a:solidFill>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3592882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txBox="1">
            <a:spLocks noChangeArrowheads="1"/>
          </p:cNvSpPr>
          <p:nvPr/>
        </p:nvSpPr>
        <p:spPr bwMode="auto">
          <a:xfrm>
            <a:off x="457200" y="290167"/>
            <a:ext cx="8229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黑体" panose="0201060906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黑体" panose="0201060906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黑体" panose="0201060906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9pPr>
          </a:lstStyle>
          <a:p>
            <a:pPr>
              <a:spcBef>
                <a:spcPct val="0"/>
              </a:spcBef>
              <a:buClrTx/>
              <a:buSzTx/>
              <a:buFontTx/>
              <a:buNone/>
            </a:pPr>
            <a:r>
              <a:rPr lang="zh-CN" altLang="en-US" sz="3500" dirty="0">
                <a:latin typeface="+mj-lt"/>
                <a:ea typeface="+mn-ea"/>
                <a:cs typeface="Times"/>
              </a:rPr>
              <a:t>位置定位</a:t>
            </a:r>
            <a:endParaRPr lang="en-US" altLang="zh-CN" sz="3500" dirty="0">
              <a:latin typeface="+mj-lt"/>
              <a:ea typeface="+mn-ea"/>
              <a:cs typeface="Times"/>
            </a:endParaRPr>
          </a:p>
        </p:txBody>
      </p:sp>
      <p:sp>
        <p:nvSpPr>
          <p:cNvPr id="7" name="文本框 6"/>
          <p:cNvSpPr txBox="1"/>
          <p:nvPr/>
        </p:nvSpPr>
        <p:spPr bwMode="auto">
          <a:xfrm>
            <a:off x="550863" y="82550"/>
            <a:ext cx="723900" cy="583565"/>
          </a:xfrm>
          <a:prstGeom prst="rect">
            <a:avLst/>
          </a:prstGeom>
          <a:noFill/>
        </p:spPr>
        <p:txBody>
          <a:bodyPr>
            <a:spAutoFit/>
          </a:bodyPr>
          <a:lstStyle/>
          <a:p>
            <a:pPr algn="ctr" eaLnBrk="1" fontAlgn="auto" hangingPunct="1">
              <a:spcBef>
                <a:spcPts val="0"/>
              </a:spcBef>
              <a:spcAft>
                <a:spcPts val="0"/>
              </a:spcAft>
              <a:defRPr/>
            </a:pPr>
            <a:endParaRPr lang="zh-CN" altLang="en-US" sz="3200" dirty="0">
              <a:solidFill>
                <a:schemeClr val="bg2">
                  <a:lumMod val="25000"/>
                </a:schemeClr>
              </a:solidFill>
              <a:latin typeface="+mj-lt"/>
              <a:ea typeface="+mn-ea"/>
            </a:endParaRPr>
          </a:p>
        </p:txBody>
      </p:sp>
      <p:sp>
        <p:nvSpPr>
          <p:cNvPr id="15" name="文本框 11">
            <a:extLst>
              <a:ext uri="{FF2B5EF4-FFF2-40B4-BE49-F238E27FC236}">
                <a16:creationId xmlns:a16="http://schemas.microsoft.com/office/drawing/2014/main" id="{85C211C9-F1B3-8D4F-BF94-30C5E4D3A9EE}"/>
              </a:ext>
            </a:extLst>
          </p:cNvPr>
          <p:cNvSpPr txBox="1"/>
          <p:nvPr/>
        </p:nvSpPr>
        <p:spPr>
          <a:xfrm>
            <a:off x="3196742" y="5737899"/>
            <a:ext cx="5062819" cy="87421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zh-CN" dirty="0"/>
              <a:t>在线定位阶段的目的是</a:t>
            </a:r>
            <a:r>
              <a:rPr lang="zh-CN" altLang="en-US" dirty="0"/>
              <a:t>通过指纹匹配算法</a:t>
            </a:r>
            <a:r>
              <a:rPr lang="zh-CN" altLang="zh-CN" dirty="0"/>
              <a:t>得到移动终端设备的最终位置信息</a:t>
            </a:r>
            <a:endParaRPr lang="en-US" altLang="zh-CN" dirty="0">
              <a:latin typeface="+mj-lt"/>
            </a:endParaRPr>
          </a:p>
        </p:txBody>
      </p:sp>
      <p:pic>
        <p:nvPicPr>
          <p:cNvPr id="3076" name="Picture 4" descr="一种室内定位系统中的特征指纹库构建方法与流程">
            <a:extLst>
              <a:ext uri="{FF2B5EF4-FFF2-40B4-BE49-F238E27FC236}">
                <a16:creationId xmlns:a16="http://schemas.microsoft.com/office/drawing/2014/main" id="{E0D50E3B-1B00-0B4D-94BB-88D9820E5E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147152"/>
            <a:ext cx="8534400" cy="34925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2AC8AE2-B88A-4543-AB01-374F5586875A}"/>
              </a:ext>
            </a:extLst>
          </p:cNvPr>
          <p:cNvSpPr txBox="1"/>
          <p:nvPr/>
        </p:nvSpPr>
        <p:spPr bwMode="auto">
          <a:xfrm>
            <a:off x="457200" y="1036843"/>
            <a:ext cx="4572000" cy="523220"/>
          </a:xfrm>
          <a:prstGeom prst="rect">
            <a:avLst/>
          </a:prstGeom>
          <a:noFill/>
          <a:ln>
            <a:noFill/>
          </a:ln>
        </p:spPr>
        <p:txBody>
          <a:bodyPr wrap="square">
            <a:spAutoFit/>
          </a:bodyPr>
          <a:lstStyle/>
          <a:p>
            <a:r>
              <a:rPr lang="zh-CN" altLang="en-US" sz="2800" dirty="0">
                <a:solidFill>
                  <a:srgbClr val="C00000"/>
                </a:solidFill>
                <a:latin typeface="+mj-lt"/>
                <a:ea typeface="+mn-ea"/>
                <a:cs typeface="Times"/>
              </a:rPr>
              <a:t>基于位置指纹方法</a:t>
            </a:r>
            <a:endParaRPr lang="en-CN" sz="2800" dirty="0">
              <a:solidFill>
                <a:srgbClr val="C00000"/>
              </a:solidFill>
            </a:endParaRPr>
          </a:p>
        </p:txBody>
      </p:sp>
      <p:sp>
        <p:nvSpPr>
          <p:cNvPr id="12" name="文本框 11"/>
          <p:cNvSpPr txBox="1"/>
          <p:nvPr/>
        </p:nvSpPr>
        <p:spPr>
          <a:xfrm>
            <a:off x="2195736" y="1916832"/>
            <a:ext cx="6259512" cy="960648"/>
          </a:xfrm>
          <a:prstGeom prst="rect">
            <a:avLst/>
          </a:prstGeom>
          <a:noFill/>
          <a:ln>
            <a:solidFill>
              <a:srgbClr val="C00000"/>
            </a:solidFill>
          </a:ln>
        </p:spPr>
        <p:txBody>
          <a:bodyPr wrap="square" rtlCol="0">
            <a:spAutoFit/>
          </a:bodyPr>
          <a:lstStyle/>
          <a:p>
            <a:pPr marL="285750" indent="-285750">
              <a:lnSpc>
                <a:spcPct val="150000"/>
              </a:lnSpc>
              <a:buFont typeface="Arial" panose="020B0604020202020204" pitchFamily="34" charset="0"/>
              <a:buChar char="•"/>
            </a:pPr>
            <a:r>
              <a:rPr lang="zh-CN" altLang="en-US" dirty="0">
                <a:solidFill>
                  <a:schemeClr val="tx1"/>
                </a:solidFill>
              </a:rPr>
              <a:t>基于</a:t>
            </a:r>
            <a:r>
              <a:rPr lang="en-US" altLang="zh-CN" dirty="0">
                <a:solidFill>
                  <a:schemeClr val="tx1"/>
                </a:solidFill>
              </a:rPr>
              <a:t>NN</a:t>
            </a:r>
            <a:r>
              <a:rPr lang="zh-CN" altLang="en-US" dirty="0">
                <a:solidFill>
                  <a:schemeClr val="tx1"/>
                </a:solidFill>
              </a:rPr>
              <a:t>（最近邻）、</a:t>
            </a:r>
            <a:r>
              <a:rPr lang="en-US" altLang="zh-CN" dirty="0">
                <a:solidFill>
                  <a:schemeClr val="tx1"/>
                </a:solidFill>
              </a:rPr>
              <a:t>KNN</a:t>
            </a:r>
            <a:r>
              <a:rPr lang="zh-CN" altLang="en-US" dirty="0">
                <a:solidFill>
                  <a:schemeClr val="tx1"/>
                </a:solidFill>
              </a:rPr>
              <a:t>等各个位置</a:t>
            </a:r>
            <a:r>
              <a:rPr lang="en-US" altLang="zh-CN" dirty="0">
                <a:solidFill>
                  <a:schemeClr val="tx1"/>
                </a:solidFill>
              </a:rPr>
              <a:t>Wi-Fi</a:t>
            </a:r>
            <a:r>
              <a:rPr lang="zh-CN" altLang="en-US" dirty="0">
                <a:solidFill>
                  <a:schemeClr val="tx1"/>
                </a:solidFill>
              </a:rPr>
              <a:t>信号</a:t>
            </a:r>
            <a:r>
              <a:rPr lang="en-US" altLang="zh-CN" dirty="0">
                <a:solidFill>
                  <a:schemeClr val="tx1"/>
                </a:solidFill>
              </a:rPr>
              <a:t>RSSI</a:t>
            </a:r>
            <a:r>
              <a:rPr lang="zh-CN" altLang="en-US" dirty="0">
                <a:solidFill>
                  <a:schemeClr val="tx1"/>
                </a:solidFill>
              </a:rPr>
              <a:t>特征的位置指纹数据库</a:t>
            </a:r>
            <a:endParaRPr lang="en-US" altLang="zh-CN" dirty="0">
              <a:solidFill>
                <a:schemeClr val="tx1"/>
              </a:solidFill>
              <a:latin typeface="+mj-lt"/>
            </a:endParaRPr>
          </a:p>
        </p:txBody>
      </p:sp>
      <p:sp>
        <p:nvSpPr>
          <p:cNvPr id="2" name="Rounded Rectangle 1">
            <a:extLst>
              <a:ext uri="{FF2B5EF4-FFF2-40B4-BE49-F238E27FC236}">
                <a16:creationId xmlns:a16="http://schemas.microsoft.com/office/drawing/2014/main" id="{91B65455-7F08-024B-9CB4-EAFE3256317E}"/>
              </a:ext>
            </a:extLst>
          </p:cNvPr>
          <p:cNvSpPr/>
          <p:nvPr/>
        </p:nvSpPr>
        <p:spPr>
          <a:xfrm>
            <a:off x="4788024" y="5517232"/>
            <a:ext cx="1944216" cy="720080"/>
          </a:xfrm>
          <a:prstGeom prst="roundRect">
            <a:avLst/>
          </a:prstGeom>
          <a:solidFill>
            <a:srgbClr val="FF0000">
              <a:alpha val="20000"/>
            </a:srgbClr>
          </a:solidFill>
        </p:spPr>
        <p:txBody>
          <a:bodyPr wrap="square" rtlCol="0" anchor="ctr">
            <a:spAutoFit/>
          </a:bodyPr>
          <a:lstStyle/>
          <a:p>
            <a:pPr algn="ctr"/>
            <a:endParaRPr lang="en-CN" dirty="0">
              <a:solidFill>
                <a:srgbClr val="C00000"/>
              </a:solidFill>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69606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txBox="1">
            <a:spLocks noChangeArrowheads="1"/>
          </p:cNvSpPr>
          <p:nvPr/>
        </p:nvSpPr>
        <p:spPr bwMode="auto">
          <a:xfrm>
            <a:off x="457200" y="290167"/>
            <a:ext cx="8229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黑体" panose="0201060906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黑体" panose="0201060906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黑体" panose="0201060906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黑体" panose="02010609060101010101" pitchFamily="2" charset="-122"/>
              </a:defRPr>
            </a:lvl9pPr>
          </a:lstStyle>
          <a:p>
            <a:pPr>
              <a:spcBef>
                <a:spcPct val="0"/>
              </a:spcBef>
              <a:buClrTx/>
              <a:buSzTx/>
              <a:buFontTx/>
              <a:buNone/>
            </a:pPr>
            <a:r>
              <a:rPr lang="zh-CN" altLang="en-US" sz="3500" dirty="0">
                <a:latin typeface="+mj-lt"/>
                <a:ea typeface="+mn-ea"/>
                <a:cs typeface="Times"/>
              </a:rPr>
              <a:t>位置定位</a:t>
            </a:r>
            <a:endParaRPr lang="en-US" altLang="zh-CN" sz="3500" dirty="0">
              <a:latin typeface="+mj-lt"/>
              <a:ea typeface="+mn-ea"/>
              <a:cs typeface="Times"/>
            </a:endParaRPr>
          </a:p>
        </p:txBody>
      </p:sp>
      <p:sp>
        <p:nvSpPr>
          <p:cNvPr id="7" name="文本框 6"/>
          <p:cNvSpPr txBox="1"/>
          <p:nvPr/>
        </p:nvSpPr>
        <p:spPr bwMode="auto">
          <a:xfrm>
            <a:off x="550863" y="82550"/>
            <a:ext cx="723900" cy="583565"/>
          </a:xfrm>
          <a:prstGeom prst="rect">
            <a:avLst/>
          </a:prstGeom>
          <a:noFill/>
        </p:spPr>
        <p:txBody>
          <a:bodyPr>
            <a:spAutoFit/>
          </a:bodyPr>
          <a:lstStyle/>
          <a:p>
            <a:pPr algn="ctr" eaLnBrk="1" fontAlgn="auto" hangingPunct="1">
              <a:spcBef>
                <a:spcPts val="0"/>
              </a:spcBef>
              <a:spcAft>
                <a:spcPts val="0"/>
              </a:spcAft>
              <a:defRPr/>
            </a:pPr>
            <a:endParaRPr lang="zh-CN" altLang="en-US" sz="3200" dirty="0">
              <a:solidFill>
                <a:schemeClr val="bg2">
                  <a:lumMod val="25000"/>
                </a:schemeClr>
              </a:solidFill>
              <a:latin typeface="+mj-lt"/>
              <a:ea typeface="+mn-ea"/>
            </a:endParaRPr>
          </a:p>
        </p:txBody>
      </p:sp>
      <p:sp>
        <p:nvSpPr>
          <p:cNvPr id="15" name="文本框 11">
            <a:extLst>
              <a:ext uri="{FF2B5EF4-FFF2-40B4-BE49-F238E27FC236}">
                <a16:creationId xmlns:a16="http://schemas.microsoft.com/office/drawing/2014/main" id="{85C211C9-F1B3-8D4F-BF94-30C5E4D3A9EE}"/>
              </a:ext>
            </a:extLst>
          </p:cNvPr>
          <p:cNvSpPr txBox="1"/>
          <p:nvPr/>
        </p:nvSpPr>
        <p:spPr>
          <a:xfrm>
            <a:off x="3196742" y="5737899"/>
            <a:ext cx="5062819" cy="87421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zh-CN" dirty="0"/>
              <a:t>在线定位阶段的目的是</a:t>
            </a:r>
            <a:r>
              <a:rPr lang="zh-CN" altLang="en-US" dirty="0"/>
              <a:t>通过指纹匹配算法</a:t>
            </a:r>
            <a:r>
              <a:rPr lang="zh-CN" altLang="zh-CN" dirty="0"/>
              <a:t>得到移动终端设备的最终位置信息</a:t>
            </a:r>
            <a:endParaRPr lang="en-US" altLang="zh-CN" dirty="0">
              <a:latin typeface="+mj-lt"/>
            </a:endParaRPr>
          </a:p>
        </p:txBody>
      </p:sp>
      <p:sp>
        <p:nvSpPr>
          <p:cNvPr id="13" name="TextBox 12">
            <a:extLst>
              <a:ext uri="{FF2B5EF4-FFF2-40B4-BE49-F238E27FC236}">
                <a16:creationId xmlns:a16="http://schemas.microsoft.com/office/drawing/2014/main" id="{92AC8AE2-B88A-4543-AB01-374F5586875A}"/>
              </a:ext>
            </a:extLst>
          </p:cNvPr>
          <p:cNvSpPr txBox="1"/>
          <p:nvPr/>
        </p:nvSpPr>
        <p:spPr bwMode="auto">
          <a:xfrm>
            <a:off x="457200" y="1036843"/>
            <a:ext cx="4572000" cy="523220"/>
          </a:xfrm>
          <a:prstGeom prst="rect">
            <a:avLst/>
          </a:prstGeom>
          <a:noFill/>
          <a:ln>
            <a:noFill/>
          </a:ln>
        </p:spPr>
        <p:txBody>
          <a:bodyPr wrap="square">
            <a:spAutoFit/>
          </a:bodyPr>
          <a:lstStyle/>
          <a:p>
            <a:r>
              <a:rPr lang="zh-CN" altLang="en-US" sz="2800" dirty="0">
                <a:solidFill>
                  <a:srgbClr val="C00000"/>
                </a:solidFill>
                <a:latin typeface="+mj-lt"/>
                <a:ea typeface="+mn-ea"/>
                <a:cs typeface="Times"/>
              </a:rPr>
              <a:t>基于位置指纹方法</a:t>
            </a:r>
            <a:endParaRPr lang="en-CN" sz="2800" dirty="0">
              <a:solidFill>
                <a:srgbClr val="C00000"/>
              </a:solidFill>
            </a:endParaRPr>
          </a:p>
        </p:txBody>
      </p:sp>
      <p:sp>
        <p:nvSpPr>
          <p:cNvPr id="14" name="TextBox 13">
            <a:extLst>
              <a:ext uri="{FF2B5EF4-FFF2-40B4-BE49-F238E27FC236}">
                <a16:creationId xmlns:a16="http://schemas.microsoft.com/office/drawing/2014/main" id="{939E2318-3EDD-194E-9057-C5038B736524}"/>
              </a:ext>
            </a:extLst>
          </p:cNvPr>
          <p:cNvSpPr txBox="1"/>
          <p:nvPr/>
        </p:nvSpPr>
        <p:spPr bwMode="auto">
          <a:xfrm>
            <a:off x="1547664" y="1887453"/>
            <a:ext cx="7272808" cy="3477875"/>
          </a:xfrm>
          <a:prstGeom prst="rect">
            <a:avLst/>
          </a:prstGeom>
          <a:noFill/>
          <a:ln>
            <a:noFill/>
          </a:ln>
        </p:spPr>
        <p:txBody>
          <a:bodyPr wrap="square">
            <a:spAutoFit/>
          </a:bodyPr>
          <a:lstStyle/>
          <a:p>
            <a:pPr algn="l"/>
            <a:r>
              <a:rPr lang="zh-CN" altLang="en-US" b="0" dirty="0">
                <a:solidFill>
                  <a:srgbClr val="000000"/>
                </a:solidFill>
                <a:effectLst/>
                <a:latin typeface="ui-sans-serif"/>
              </a:rPr>
              <a:t>常用匹配算法</a:t>
            </a:r>
          </a:p>
          <a:p>
            <a:pPr algn="l"/>
            <a:r>
              <a:rPr lang="en-US" altLang="zh-CN" b="0" dirty="0">
                <a:solidFill>
                  <a:srgbClr val="000000"/>
                </a:solidFill>
                <a:effectLst/>
                <a:latin typeface="ui-sans-serif"/>
              </a:rPr>
              <a:t>1</a:t>
            </a:r>
            <a:r>
              <a:rPr lang="zh-CN" altLang="en-US" b="0" dirty="0">
                <a:solidFill>
                  <a:srgbClr val="000000"/>
                </a:solidFill>
                <a:effectLst/>
                <a:latin typeface="ui-sans-serif"/>
              </a:rPr>
              <a:t>）确定性算法（最常用）</a:t>
            </a:r>
          </a:p>
          <a:p>
            <a:pPr algn="l">
              <a:buFont typeface="Arial" panose="020B0604020202020204" pitchFamily="34" charset="0"/>
              <a:buChar char="•"/>
            </a:pPr>
            <a:r>
              <a:rPr lang="en-US" b="1" dirty="0">
                <a:solidFill>
                  <a:srgbClr val="000000"/>
                </a:solidFill>
                <a:effectLst/>
                <a:latin typeface="ui-sans-serif"/>
              </a:rPr>
              <a:t>NN（</a:t>
            </a:r>
            <a:r>
              <a:rPr lang="zh-CN" altLang="en-US" b="1" dirty="0">
                <a:solidFill>
                  <a:srgbClr val="000000"/>
                </a:solidFill>
                <a:effectLst/>
                <a:latin typeface="ui-sans-serif"/>
              </a:rPr>
              <a:t>最近邻）</a:t>
            </a:r>
            <a:r>
              <a:rPr lang="zh-CN" altLang="en-US" b="0" dirty="0">
                <a:solidFill>
                  <a:srgbClr val="000000"/>
                </a:solidFill>
                <a:effectLst/>
                <a:latin typeface="ui-sans-serif"/>
              </a:rPr>
              <a:t>：选距离最小的单个指纹坐标。</a:t>
            </a:r>
          </a:p>
          <a:p>
            <a:pPr algn="l">
              <a:buFont typeface="Arial" panose="020B0604020202020204" pitchFamily="34" charset="0"/>
              <a:buChar char="•"/>
            </a:pPr>
            <a:r>
              <a:rPr lang="en-US" b="1" dirty="0">
                <a:solidFill>
                  <a:srgbClr val="000000"/>
                </a:solidFill>
                <a:effectLst/>
                <a:latin typeface="ui-sans-serif"/>
              </a:rPr>
              <a:t>KNN（K </a:t>
            </a:r>
            <a:r>
              <a:rPr lang="zh-CN" altLang="en-US" b="1" dirty="0">
                <a:solidFill>
                  <a:srgbClr val="000000"/>
                </a:solidFill>
                <a:effectLst/>
                <a:latin typeface="ui-sans-serif"/>
              </a:rPr>
              <a:t>近邻）</a:t>
            </a:r>
            <a:r>
              <a:rPr lang="zh-CN" altLang="en-US" b="0" dirty="0">
                <a:solidFill>
                  <a:srgbClr val="000000"/>
                </a:solidFill>
                <a:effectLst/>
                <a:latin typeface="ui-sans-serif"/>
              </a:rPr>
              <a:t>：选 </a:t>
            </a:r>
            <a:r>
              <a:rPr lang="en-US" b="0" dirty="0">
                <a:solidFill>
                  <a:srgbClr val="000000"/>
                </a:solidFill>
                <a:effectLst/>
                <a:latin typeface="ui-sans-serif"/>
              </a:rPr>
              <a:t>Top-K（K=3–4）</a:t>
            </a:r>
            <a:r>
              <a:rPr lang="zh-CN" altLang="en-US" b="0" dirty="0">
                <a:solidFill>
                  <a:srgbClr val="000000"/>
                </a:solidFill>
                <a:effectLst/>
                <a:latin typeface="ui-sans-serif"/>
              </a:rPr>
              <a:t>指纹，坐标平均。</a:t>
            </a:r>
          </a:p>
          <a:p>
            <a:pPr algn="l">
              <a:buFont typeface="Arial" panose="020B0604020202020204" pitchFamily="34" charset="0"/>
              <a:buChar char="•"/>
            </a:pPr>
            <a:r>
              <a:rPr lang="en-US" b="1" dirty="0">
                <a:solidFill>
                  <a:srgbClr val="000000"/>
                </a:solidFill>
                <a:effectLst/>
                <a:latin typeface="ui-sans-serif"/>
              </a:rPr>
              <a:t>WKNN（</a:t>
            </a:r>
            <a:r>
              <a:rPr lang="zh-CN" altLang="en-US" b="1" dirty="0">
                <a:solidFill>
                  <a:srgbClr val="000000"/>
                </a:solidFill>
                <a:effectLst/>
                <a:latin typeface="ui-sans-serif"/>
              </a:rPr>
              <a:t>加权 </a:t>
            </a:r>
            <a:r>
              <a:rPr lang="en-US" b="1" dirty="0">
                <a:solidFill>
                  <a:srgbClr val="000000"/>
                </a:solidFill>
                <a:effectLst/>
                <a:latin typeface="ui-sans-serif"/>
              </a:rPr>
              <a:t>KNN）</a:t>
            </a:r>
            <a:r>
              <a:rPr lang="en-US" b="0" dirty="0">
                <a:solidFill>
                  <a:srgbClr val="000000"/>
                </a:solidFill>
                <a:effectLst/>
                <a:latin typeface="ui-sans-serif"/>
              </a:rPr>
              <a:t>：</a:t>
            </a:r>
            <a:r>
              <a:rPr lang="zh-CN" altLang="en-US" b="0" dirty="0">
                <a:solidFill>
                  <a:srgbClr val="000000"/>
                </a:solidFill>
                <a:effectLst/>
                <a:latin typeface="ui-sans-serif"/>
              </a:rPr>
              <a:t>距离越小权重越大，精度更高。</a:t>
            </a:r>
          </a:p>
          <a:p>
            <a:pPr algn="l"/>
            <a:r>
              <a:rPr lang="en-US" altLang="zh-CN" b="0" dirty="0">
                <a:solidFill>
                  <a:srgbClr val="000000"/>
                </a:solidFill>
                <a:effectLst/>
                <a:latin typeface="ui-sans-serif"/>
              </a:rPr>
              <a:t>2</a:t>
            </a:r>
            <a:r>
              <a:rPr lang="zh-CN" altLang="en-US" b="0" dirty="0">
                <a:solidFill>
                  <a:srgbClr val="000000"/>
                </a:solidFill>
                <a:effectLst/>
                <a:latin typeface="ui-sans-serif"/>
              </a:rPr>
              <a:t>）概率 </a:t>
            </a:r>
            <a:r>
              <a:rPr lang="en-US" altLang="zh-CN" b="0" dirty="0">
                <a:solidFill>
                  <a:srgbClr val="000000"/>
                </a:solidFill>
                <a:effectLst/>
                <a:latin typeface="ui-sans-serif"/>
              </a:rPr>
              <a:t>/ </a:t>
            </a:r>
            <a:r>
              <a:rPr lang="zh-CN" altLang="en-US" b="0" dirty="0">
                <a:solidFill>
                  <a:srgbClr val="000000"/>
                </a:solidFill>
                <a:effectLst/>
                <a:latin typeface="ui-sans-serif"/>
              </a:rPr>
              <a:t>统计算法</a:t>
            </a:r>
          </a:p>
          <a:p>
            <a:pPr algn="l">
              <a:buFont typeface="Arial" panose="020B0604020202020204" pitchFamily="34" charset="0"/>
              <a:buChar char="•"/>
            </a:pPr>
            <a:r>
              <a:rPr lang="zh-CN" altLang="en-US" b="1" dirty="0">
                <a:solidFill>
                  <a:srgbClr val="000000"/>
                </a:solidFill>
                <a:effectLst/>
                <a:latin typeface="ui-sans-serif"/>
              </a:rPr>
              <a:t>朴素贝叶斯</a:t>
            </a:r>
            <a:r>
              <a:rPr lang="zh-CN" altLang="en-US" b="0" dirty="0">
                <a:solidFill>
                  <a:srgbClr val="000000"/>
                </a:solidFill>
                <a:effectLst/>
                <a:latin typeface="ui-sans-serif"/>
              </a:rPr>
              <a:t>：计算指纹后验概率，取最大概率位置。</a:t>
            </a:r>
          </a:p>
          <a:p>
            <a:pPr algn="l">
              <a:buFont typeface="Arial" panose="020B0604020202020204" pitchFamily="34" charset="0"/>
              <a:buChar char="•"/>
            </a:pPr>
            <a:r>
              <a:rPr lang="zh-CN" altLang="en-US" b="1" dirty="0">
                <a:solidFill>
                  <a:srgbClr val="000000"/>
                </a:solidFill>
                <a:effectLst/>
                <a:latin typeface="ui-sans-serif"/>
              </a:rPr>
              <a:t>高斯过程</a:t>
            </a:r>
            <a:r>
              <a:rPr lang="zh-CN" altLang="en-US" b="0" dirty="0">
                <a:solidFill>
                  <a:srgbClr val="000000"/>
                </a:solidFill>
                <a:effectLst/>
                <a:latin typeface="ui-sans-serif"/>
              </a:rPr>
              <a:t>：建模信号分布，输出位置置信区间。</a:t>
            </a:r>
          </a:p>
          <a:p>
            <a:pPr algn="l"/>
            <a:r>
              <a:rPr lang="en-US" altLang="zh-CN" b="0" dirty="0">
                <a:solidFill>
                  <a:srgbClr val="000000"/>
                </a:solidFill>
                <a:effectLst/>
                <a:latin typeface="ui-sans-serif"/>
              </a:rPr>
              <a:t>3</a:t>
            </a:r>
            <a:r>
              <a:rPr lang="zh-CN" altLang="en-US" b="0" dirty="0">
                <a:solidFill>
                  <a:srgbClr val="000000"/>
                </a:solidFill>
                <a:effectLst/>
                <a:latin typeface="ui-sans-serif"/>
              </a:rPr>
              <a:t>）机器学习 </a:t>
            </a:r>
            <a:r>
              <a:rPr lang="en-US" altLang="zh-CN" b="0" dirty="0">
                <a:solidFill>
                  <a:srgbClr val="000000"/>
                </a:solidFill>
                <a:effectLst/>
                <a:latin typeface="ui-sans-serif"/>
              </a:rPr>
              <a:t>/ </a:t>
            </a:r>
            <a:r>
              <a:rPr lang="zh-CN" altLang="en-US" b="0" dirty="0">
                <a:solidFill>
                  <a:srgbClr val="000000"/>
                </a:solidFill>
                <a:effectLst/>
                <a:latin typeface="ui-sans-serif"/>
              </a:rPr>
              <a:t>深度学习</a:t>
            </a:r>
          </a:p>
          <a:p>
            <a:pPr algn="l">
              <a:buFont typeface="Arial" panose="020B0604020202020204" pitchFamily="34" charset="0"/>
              <a:buChar char="•"/>
            </a:pPr>
            <a:r>
              <a:rPr lang="en-US" b="1" dirty="0">
                <a:solidFill>
                  <a:srgbClr val="000000"/>
                </a:solidFill>
                <a:effectLst/>
                <a:latin typeface="ui-sans-serif"/>
              </a:rPr>
              <a:t>SVM / </a:t>
            </a:r>
            <a:r>
              <a:rPr lang="zh-CN" altLang="en-US" b="1" dirty="0">
                <a:solidFill>
                  <a:srgbClr val="000000"/>
                </a:solidFill>
                <a:effectLst/>
                <a:latin typeface="ui-sans-serif"/>
              </a:rPr>
              <a:t>随机森林</a:t>
            </a:r>
            <a:r>
              <a:rPr lang="zh-CN" altLang="en-US" b="0" dirty="0">
                <a:solidFill>
                  <a:srgbClr val="000000"/>
                </a:solidFill>
                <a:effectLst/>
                <a:latin typeface="ui-sans-serif"/>
              </a:rPr>
              <a:t>：分类回归预测坐标。</a:t>
            </a:r>
          </a:p>
          <a:p>
            <a:pPr algn="l">
              <a:buFont typeface="Arial" panose="020B0604020202020204" pitchFamily="34" charset="0"/>
              <a:buChar char="•"/>
            </a:pPr>
            <a:r>
              <a:rPr lang="en-US" b="1" dirty="0">
                <a:solidFill>
                  <a:srgbClr val="000000"/>
                </a:solidFill>
                <a:effectLst/>
                <a:latin typeface="ui-sans-serif"/>
              </a:rPr>
              <a:t>CNN/LSTM</a:t>
            </a:r>
            <a:r>
              <a:rPr lang="en-US" b="0" dirty="0">
                <a:solidFill>
                  <a:srgbClr val="000000"/>
                </a:solidFill>
                <a:effectLst/>
                <a:latin typeface="ui-sans-serif"/>
              </a:rPr>
              <a:t>：</a:t>
            </a:r>
            <a:r>
              <a:rPr lang="zh-CN" altLang="en-US" b="0" dirty="0">
                <a:solidFill>
                  <a:srgbClr val="000000"/>
                </a:solidFill>
                <a:effectLst/>
                <a:latin typeface="ui-sans-serif"/>
              </a:rPr>
              <a:t>自动提取深层特征，适配 </a:t>
            </a:r>
            <a:r>
              <a:rPr lang="en-US" b="0" dirty="0">
                <a:solidFill>
                  <a:srgbClr val="000000"/>
                </a:solidFill>
                <a:effectLst/>
                <a:latin typeface="ui-sans-serif"/>
              </a:rPr>
              <a:t>CSI / </a:t>
            </a:r>
            <a:r>
              <a:rPr lang="zh-CN" altLang="en-US" b="0" dirty="0">
                <a:solidFill>
                  <a:srgbClr val="000000"/>
                </a:solidFill>
                <a:effectLst/>
                <a:latin typeface="ui-sans-serif"/>
              </a:rPr>
              <a:t>时序数据。</a:t>
            </a:r>
          </a:p>
        </p:txBody>
      </p:sp>
    </p:spTree>
    <p:extLst>
      <p:ext uri="{BB962C8B-B14F-4D97-AF65-F5344CB8AC3E}">
        <p14:creationId xmlns:p14="http://schemas.microsoft.com/office/powerpoint/2010/main" val="2251848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1">
            <a:extLst>
              <a:ext uri="{FF2B5EF4-FFF2-40B4-BE49-F238E27FC236}">
                <a16:creationId xmlns:a16="http://schemas.microsoft.com/office/drawing/2014/main" id="{D2C9F563-E529-9347-84D4-2C99E95F02D7}"/>
              </a:ext>
            </a:extLst>
          </p:cNvPr>
          <p:cNvSpPr>
            <a:spLocks noChangeArrowheads="1"/>
          </p:cNvSpPr>
          <p:nvPr/>
        </p:nvSpPr>
        <p:spPr bwMode="auto">
          <a:xfrm>
            <a:off x="539750" y="549275"/>
            <a:ext cx="8496300" cy="5869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spcBef>
                <a:spcPts val="8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000000"/>
                </a:solidFill>
                <a:latin typeface="Arial" panose="020B0604020202020204" pitchFamily="34" charset="0"/>
                <a:ea typeface="宋体" panose="02010600030101010101" pitchFamily="2" charset="-122"/>
              </a:defRPr>
            </a:lvl1pPr>
            <a:lvl2pPr>
              <a:spcBef>
                <a:spcPts val="7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000000"/>
                </a:solidFill>
                <a:latin typeface="Arial" panose="020B0604020202020204" pitchFamily="34" charset="0"/>
                <a:ea typeface="宋体" panose="02010600030101010101" pitchFamily="2" charset="-122"/>
              </a:defRPr>
            </a:lvl2pPr>
            <a:lvl3pPr>
              <a:spcBef>
                <a:spcPts val="6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000000"/>
                </a:solidFill>
                <a:latin typeface="Arial" panose="020B0604020202020204" pitchFamily="34" charset="0"/>
                <a:ea typeface="宋体" panose="02010600030101010101" pitchFamily="2" charset="-122"/>
              </a:defRPr>
            </a:lvl3pPr>
            <a:lvl4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4pPr>
            <a:lvl5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000000"/>
                </a:solidFill>
                <a:latin typeface="Arial" panose="020B0604020202020204" pitchFamily="34" charset="0"/>
                <a:ea typeface="宋体" panose="02010600030101010101" pitchFamily="2" charset="-122"/>
              </a:defRPr>
            </a:lvl9pPr>
          </a:lstStyle>
          <a:p>
            <a:pPr>
              <a:buClrTx/>
              <a:buFontTx/>
              <a:buNone/>
            </a:pPr>
            <a:r>
              <a:rPr lang="zh-CN" altLang="en-US" b="1" dirty="0">
                <a:solidFill>
                  <a:srgbClr val="C00000"/>
                </a:solidFill>
              </a:rPr>
              <a:t>实验内容</a:t>
            </a:r>
            <a:endParaRPr lang="zh-CN" altLang="zh-CN" b="1" dirty="0">
              <a:solidFill>
                <a:srgbClr val="C00000"/>
              </a:solidFill>
            </a:endParaRPr>
          </a:p>
        </p:txBody>
      </p:sp>
      <p:sp>
        <p:nvSpPr>
          <p:cNvPr id="7" name="TextBox 6">
            <a:extLst>
              <a:ext uri="{FF2B5EF4-FFF2-40B4-BE49-F238E27FC236}">
                <a16:creationId xmlns:a16="http://schemas.microsoft.com/office/drawing/2014/main" id="{2313E721-AED6-C042-B596-4F653212F8E3}"/>
              </a:ext>
            </a:extLst>
          </p:cNvPr>
          <p:cNvSpPr txBox="1"/>
          <p:nvPr/>
        </p:nvSpPr>
        <p:spPr bwMode="auto">
          <a:xfrm>
            <a:off x="449288" y="1726269"/>
            <a:ext cx="8011144" cy="3785652"/>
          </a:xfrm>
          <a:prstGeom prst="rect">
            <a:avLst/>
          </a:prstGeom>
          <a:noFill/>
          <a:ln>
            <a:noFill/>
          </a:ln>
        </p:spPr>
        <p:txBody>
          <a:bodyPr wrap="square">
            <a:spAutoFit/>
          </a:bodyPr>
          <a:lstStyle/>
          <a:p>
            <a:pPr algn="l"/>
            <a:r>
              <a:rPr lang="en-CN" sz="2400" b="1" i="0" dirty="0">
                <a:solidFill>
                  <a:srgbClr val="222222"/>
                </a:solidFill>
                <a:effectLst/>
                <a:latin typeface="PingFang SC" panose="020B0400000000000000" pitchFamily="34" charset="-122"/>
                <a:ea typeface="PingFang SC" panose="020B0400000000000000" pitchFamily="34" charset="-122"/>
              </a:rPr>
              <a:t>功能要求</a:t>
            </a:r>
            <a:br>
              <a:rPr lang="en-US" sz="2400" b="0" i="0" dirty="0">
                <a:solidFill>
                  <a:srgbClr val="222222"/>
                </a:solidFill>
                <a:effectLst/>
                <a:latin typeface="PingFang SC" panose="020B0400000000000000" pitchFamily="34" charset="-122"/>
                <a:ea typeface="PingFang SC" panose="020B0400000000000000" pitchFamily="34" charset="-122"/>
              </a:rPr>
            </a:br>
            <a:endParaRPr lang="en-US" sz="2400" b="0" i="0" dirty="0">
              <a:solidFill>
                <a:srgbClr val="222222"/>
              </a:solidFill>
              <a:effectLst/>
              <a:latin typeface="PingFang SC" panose="020B0400000000000000" pitchFamily="34" charset="-122"/>
              <a:ea typeface="PingFang SC" panose="020B0400000000000000" pitchFamily="34" charset="-122"/>
            </a:endParaRPr>
          </a:p>
          <a:p>
            <a:pPr marL="342900" indent="-342900" algn="l">
              <a:buFont typeface="Arial" panose="020B0604020202020204" pitchFamily="34" charset="0"/>
              <a:buChar char="•"/>
            </a:pPr>
            <a:r>
              <a:rPr lang="en-US" altLang="zh-CN" sz="2400" b="0" i="0" dirty="0">
                <a:solidFill>
                  <a:srgbClr val="222222"/>
                </a:solidFill>
                <a:effectLst/>
                <a:latin typeface="PingFang SC" panose="020B0400000000000000" pitchFamily="34" charset="-122"/>
                <a:ea typeface="PingFang SC" panose="020B0400000000000000" pitchFamily="34" charset="-122"/>
              </a:rPr>
              <a:t>ESP32</a:t>
            </a:r>
            <a:r>
              <a:rPr lang="zh-CN" altLang="en-US" sz="2400" dirty="0">
                <a:solidFill>
                  <a:srgbClr val="222222"/>
                </a:solidFill>
                <a:latin typeface="PingFang SC" panose="020B0400000000000000" pitchFamily="34" charset="-122"/>
                <a:ea typeface="PingFang SC" panose="020B0400000000000000" pitchFamily="34" charset="-122"/>
              </a:rPr>
              <a:t>放在不同位置时，能在其上连接的</a:t>
            </a:r>
            <a:r>
              <a:rPr lang="en-US" altLang="zh-CN" sz="2400" dirty="0">
                <a:solidFill>
                  <a:srgbClr val="222222"/>
                </a:solidFill>
                <a:latin typeface="PingFang SC" panose="020B0400000000000000" pitchFamily="34" charset="-122"/>
                <a:ea typeface="PingFang SC" panose="020B0400000000000000" pitchFamily="34" charset="-122"/>
              </a:rPr>
              <a:t>LCD</a:t>
            </a:r>
            <a:r>
              <a:rPr lang="zh-CN" altLang="en-US" sz="2400" dirty="0">
                <a:solidFill>
                  <a:srgbClr val="222222"/>
                </a:solidFill>
                <a:latin typeface="PingFang SC" panose="020B0400000000000000" pitchFamily="34" charset="-122"/>
                <a:ea typeface="PingFang SC" panose="020B0400000000000000" pitchFamily="34" charset="-122"/>
              </a:rPr>
              <a:t>屏幕上显示出其所在位置。</a:t>
            </a:r>
            <a:endParaRPr lang="en-US" altLang="zh-CN" sz="2400" dirty="0">
              <a:solidFill>
                <a:srgbClr val="222222"/>
              </a:solidFill>
              <a:latin typeface="PingFang SC" panose="020B0400000000000000" pitchFamily="34" charset="-122"/>
              <a:ea typeface="PingFang SC" panose="020B0400000000000000" pitchFamily="34" charset="-122"/>
            </a:endParaRPr>
          </a:p>
          <a:p>
            <a:pPr marL="342900" indent="-342900" algn="l">
              <a:buFont typeface="Arial" panose="020B0604020202020204" pitchFamily="34" charset="0"/>
              <a:buChar char="•"/>
            </a:pPr>
            <a:endParaRPr lang="en-US" altLang="zh-CN" sz="2400" b="0" dirty="0">
              <a:solidFill>
                <a:srgbClr val="222222"/>
              </a:solidFill>
              <a:effectLst/>
              <a:latin typeface="PingFang SC" panose="020B0400000000000000" pitchFamily="34" charset="-122"/>
              <a:ea typeface="PingFang SC" panose="020B0400000000000000" pitchFamily="34" charset="-122"/>
            </a:endParaRPr>
          </a:p>
          <a:p>
            <a:pPr marL="342900" indent="-342900">
              <a:buFont typeface="Arial" panose="020B0604020202020204" pitchFamily="34" charset="0"/>
              <a:buChar char="•"/>
            </a:pPr>
            <a:r>
              <a:rPr lang="zh-CN" altLang="en-US" sz="2400" dirty="0">
                <a:solidFill>
                  <a:srgbClr val="222222"/>
                </a:solidFill>
                <a:latin typeface="PingFang SC" panose="020B0400000000000000" pitchFamily="34" charset="-122"/>
                <a:ea typeface="PingFang SC" panose="020B0400000000000000" pitchFamily="34" charset="-122"/>
              </a:rPr>
              <a:t>要求至少对分分析两种不同的“定位算法”。</a:t>
            </a:r>
            <a:endParaRPr lang="en-US" altLang="zh-CN" sz="2400" dirty="0">
              <a:solidFill>
                <a:srgbClr val="222222"/>
              </a:solidFill>
              <a:latin typeface="PingFang SC" panose="020B0400000000000000" pitchFamily="34" charset="-122"/>
              <a:ea typeface="PingFang SC" panose="020B0400000000000000" pitchFamily="34" charset="-122"/>
            </a:endParaRPr>
          </a:p>
          <a:p>
            <a:pPr marL="342900" indent="-342900" algn="l">
              <a:buFont typeface="Arial" panose="020B0604020202020204" pitchFamily="34" charset="0"/>
              <a:buChar char="•"/>
            </a:pPr>
            <a:endParaRPr lang="en-US" altLang="zh-CN" sz="2400" b="0" dirty="0">
              <a:solidFill>
                <a:srgbClr val="222222"/>
              </a:solidFill>
              <a:effectLst/>
              <a:latin typeface="PingFang SC" panose="020B0400000000000000" pitchFamily="34" charset="-122"/>
              <a:ea typeface="PingFang SC" panose="020B0400000000000000" pitchFamily="34" charset="-122"/>
            </a:endParaRPr>
          </a:p>
          <a:p>
            <a:pPr marL="342900" indent="-342900" algn="l">
              <a:buFont typeface="Arial" panose="020B0604020202020204" pitchFamily="34" charset="0"/>
              <a:buChar char="•"/>
            </a:pPr>
            <a:r>
              <a:rPr lang="en-US" altLang="zh-CN" sz="2400" dirty="0">
                <a:solidFill>
                  <a:srgbClr val="222222"/>
                </a:solidFill>
                <a:latin typeface="PingFang SC" panose="020B0400000000000000" pitchFamily="34" charset="-122"/>
                <a:ea typeface="PingFang SC" panose="020B0400000000000000" pitchFamily="34" charset="-122"/>
              </a:rPr>
              <a:t>⚠️</a:t>
            </a:r>
            <a:r>
              <a:rPr lang="zh-CN" altLang="en-US" sz="2400" dirty="0">
                <a:solidFill>
                  <a:srgbClr val="222222"/>
                </a:solidFill>
                <a:latin typeface="PingFang SC" panose="020B0400000000000000" pitchFamily="34" charset="-122"/>
                <a:ea typeface="PingFang SC" panose="020B0400000000000000" pitchFamily="34" charset="-122"/>
              </a:rPr>
              <a:t> 指纹“数据库”和 “定位算法”要在</a:t>
            </a:r>
            <a:r>
              <a:rPr lang="en-US" altLang="zh-CN" sz="2400" dirty="0">
                <a:solidFill>
                  <a:srgbClr val="222222"/>
                </a:solidFill>
                <a:latin typeface="PingFang SC" panose="020B0400000000000000" pitchFamily="34" charset="-122"/>
                <a:ea typeface="PingFang SC" panose="020B0400000000000000" pitchFamily="34" charset="-122"/>
              </a:rPr>
              <a:t>ESP32</a:t>
            </a:r>
            <a:r>
              <a:rPr lang="zh-CN" altLang="en-US" sz="2400" dirty="0">
                <a:solidFill>
                  <a:srgbClr val="222222"/>
                </a:solidFill>
                <a:latin typeface="PingFang SC" panose="020B0400000000000000" pitchFamily="34" charset="-122"/>
                <a:ea typeface="PingFang SC" panose="020B0400000000000000" pitchFamily="34" charset="-122"/>
              </a:rPr>
              <a:t>开发板上实现（不是在</a:t>
            </a:r>
            <a:r>
              <a:rPr lang="en-US" altLang="zh-CN" sz="2400" dirty="0">
                <a:solidFill>
                  <a:srgbClr val="222222"/>
                </a:solidFill>
                <a:latin typeface="PingFang SC" panose="020B0400000000000000" pitchFamily="34" charset="-122"/>
                <a:ea typeface="PingFang SC" panose="020B0400000000000000" pitchFamily="34" charset="-122"/>
              </a:rPr>
              <a:t>PC</a:t>
            </a:r>
            <a:r>
              <a:rPr lang="zh-CN" altLang="en-US" sz="2400" dirty="0">
                <a:solidFill>
                  <a:srgbClr val="222222"/>
                </a:solidFill>
                <a:latin typeface="PingFang SC" panose="020B0400000000000000" pitchFamily="34" charset="-122"/>
                <a:ea typeface="PingFang SC" panose="020B0400000000000000" pitchFamily="34" charset="-122"/>
              </a:rPr>
              <a:t>机上实现后将结果传到</a:t>
            </a:r>
            <a:r>
              <a:rPr lang="en-US" altLang="zh-CN" sz="2400" dirty="0">
                <a:solidFill>
                  <a:srgbClr val="222222"/>
                </a:solidFill>
                <a:latin typeface="PingFang SC" panose="020B0400000000000000" pitchFamily="34" charset="-122"/>
                <a:ea typeface="PingFang SC" panose="020B0400000000000000" pitchFamily="34" charset="-122"/>
              </a:rPr>
              <a:t>ESP32</a:t>
            </a:r>
            <a:r>
              <a:rPr lang="zh-CN" altLang="en-US" sz="2400" dirty="0">
                <a:solidFill>
                  <a:srgbClr val="222222"/>
                </a:solidFill>
                <a:latin typeface="PingFang SC" panose="020B0400000000000000" pitchFamily="34" charset="-122"/>
                <a:ea typeface="PingFang SC" panose="020B0400000000000000" pitchFamily="34" charset="-122"/>
              </a:rPr>
              <a:t>。</a:t>
            </a:r>
            <a:endParaRPr lang="en-US" altLang="zh-CN" sz="2400" dirty="0">
              <a:solidFill>
                <a:srgbClr val="222222"/>
              </a:solidFill>
              <a:latin typeface="PingFang SC" panose="020B0400000000000000" pitchFamily="34" charset="-122"/>
              <a:ea typeface="PingFang SC" panose="020B0400000000000000" pitchFamily="34" charset="-122"/>
            </a:endParaRPr>
          </a:p>
          <a:p>
            <a:pPr marL="1085850" lvl="1" indent="-342900">
              <a:buFont typeface="Arial" panose="020B0604020202020204" pitchFamily="34" charset="0"/>
              <a:buChar char="•"/>
            </a:pPr>
            <a:r>
              <a:rPr lang="zh-CN" altLang="en-US" sz="2400" dirty="0">
                <a:solidFill>
                  <a:srgbClr val="222222"/>
                </a:solidFill>
                <a:latin typeface="PingFang SC" panose="020B0400000000000000" pitchFamily="34" charset="-122"/>
                <a:ea typeface="PingFang SC" panose="020B0400000000000000" pitchFamily="34" charset="-122"/>
              </a:rPr>
              <a:t>采集后数据训练过程可以放大</a:t>
            </a:r>
            <a:r>
              <a:rPr lang="en-US" altLang="zh-CN" sz="2400" dirty="0">
                <a:solidFill>
                  <a:srgbClr val="222222"/>
                </a:solidFill>
                <a:latin typeface="PingFang SC" panose="020B0400000000000000" pitchFamily="34" charset="-122"/>
                <a:ea typeface="PingFang SC" panose="020B0400000000000000" pitchFamily="34" charset="-122"/>
              </a:rPr>
              <a:t>PC</a:t>
            </a:r>
            <a:r>
              <a:rPr lang="zh-CN" altLang="en-US" sz="2400" dirty="0">
                <a:solidFill>
                  <a:srgbClr val="222222"/>
                </a:solidFill>
                <a:latin typeface="PingFang SC" panose="020B0400000000000000" pitchFamily="34" charset="-122"/>
                <a:ea typeface="PingFang SC" panose="020B0400000000000000" pitchFamily="34" charset="-122"/>
              </a:rPr>
              <a:t>上完成。</a:t>
            </a:r>
            <a:endParaRPr lang="zh-CN" altLang="en-US" sz="2400" b="0" dirty="0">
              <a:solidFill>
                <a:schemeClr val="tx1"/>
              </a:solidFill>
              <a:effectLst/>
              <a:latin typeface="ui-sans-serif"/>
            </a:endParaRPr>
          </a:p>
        </p:txBody>
      </p:sp>
    </p:spTree>
    <p:extLst>
      <p:ext uri="{BB962C8B-B14F-4D97-AF65-F5344CB8AC3E}">
        <p14:creationId xmlns:p14="http://schemas.microsoft.com/office/powerpoint/2010/main" val="370287677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主题​​">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a:spAutoFit/>
      </a:bodyPr>
      <a:lstStyle>
        <a:defPPr>
          <a:defRPr dirty="0">
            <a:solidFill>
              <a:srgbClr val="C00000"/>
            </a:solidFill>
            <a:latin typeface="Times New Roman" panose="02020603050405020304" pitchFamily="18" charset="0"/>
            <a:ea typeface="楷体" panose="02010609060101010101" pitchFamily="49" charset="-122"/>
          </a:defRPr>
        </a:defPPr>
      </a:lstStyle>
    </a:spDef>
    <a:lnDef>
      <a:spPr bwMode="auto">
        <a:solidFill>
          <a:srgbClr val="00B8FF"/>
        </a:solidFill>
        <a:ln w="9525" cap="flat" cmpd="sng" algn="ctr">
          <a:solidFill>
            <a:srgbClr val="C00000"/>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bwMode="auto">
        <a:noFill/>
        <a:ln>
          <a:noFill/>
        </a:ln>
      </a:spPr>
      <a:bodyPr wrap="square" rtlCol="0">
        <a:spAutoFit/>
      </a:bodyPr>
      <a:lstStyle>
        <a:defPPr eaLnBrk="1" hangingPunct="1">
          <a:lnSpc>
            <a:spcPct val="120000"/>
          </a:lnSpc>
          <a:spcBef>
            <a:spcPct val="0"/>
          </a:spcBef>
          <a:buClrTx/>
          <a:buSzTx/>
          <a:buFontTx/>
          <a:buNone/>
          <a:defRPr kumimoji="1" sz="2800" b="1" dirty="0" smtClean="0">
            <a:solidFill>
              <a:srgbClr val="C00000"/>
            </a:solidFill>
            <a:latin typeface="Times New Roman" panose="02020603050405020304" pitchFamily="18" charset="0"/>
            <a:ea typeface="楷体" panose="02010609060101010101" pitchFamily="49" charset="-122"/>
          </a:defRPr>
        </a:defPPr>
      </a:lstStyle>
    </a:txDef>
  </a:objectDefaults>
  <a:extraClrSchemeLst>
    <a:extraClrScheme>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主题​​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主题​​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主题​​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30277</TotalTime>
  <Words>639</Words>
  <Application>Microsoft Macintosh PowerPoint</Application>
  <PresentationFormat>On-screen Show (4:3)</PresentationFormat>
  <Paragraphs>79</Paragraphs>
  <Slides>11</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PingFang SC</vt:lpstr>
      <vt:lpstr>华文中宋</vt:lpstr>
      <vt:lpstr>ui-sans-serif</vt:lpstr>
      <vt:lpstr>Arial</vt:lpstr>
      <vt:lpstr>Cambria Math</vt:lpstr>
      <vt:lpstr>Times New Roman</vt:lpstr>
      <vt:lpstr>Office 主题​​</vt:lpstr>
      <vt:lpstr>基于Wifi的定位</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IBM_ILY</dc:creator>
  <cp:keywords/>
  <dc:description/>
  <cp:lastModifiedBy>Microsoft Office User</cp:lastModifiedBy>
  <cp:revision>348</cp:revision>
  <cp:lastPrinted>1601-01-01T00:00:00Z</cp:lastPrinted>
  <dcterms:created xsi:type="dcterms:W3CDTF">2007-02-12T01:40:33Z</dcterms:created>
  <dcterms:modified xsi:type="dcterms:W3CDTF">2026-05-13T06:06:34Z</dcterms:modified>
</cp:coreProperties>
</file>